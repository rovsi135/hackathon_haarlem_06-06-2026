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4799880" cy="270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Open the session and create a clear promise for participants.</a:t>
            </a:r>
          </a:p>
          <a:p>
            <a:r>
              <a:t>TIME: 2 minutes</a:t>
            </a:r>
          </a:p>
          <a:p>
            <a:r>
              <a:t>INSTRUCTIONS: Welcome the group and briefly connect the title to their work context.</a:t>
            </a:r>
          </a:p>
          <a:p>
            <a:r>
              <a:t>REFLECTIVE QUESTION: What would make this session valuable for you?</a:t>
            </a:r>
          </a:p>
          <a:p>
            <a:r>
              <a:t>DEBRIEF: Set the expectation that the training will stay practical and hands-on.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Give participants a simple map of the session.</a:t>
            </a:r>
          </a:p>
          <a:p>
            <a:r>
              <a:t>TIME: 3 minutes</a:t>
            </a:r>
          </a:p>
          <a:p>
            <a:r>
              <a:t>INSTRUCTIONS: Walk through the flow and point out where participation is expected.</a:t>
            </a:r>
          </a:p>
          <a:p>
            <a:r>
              <a:t>REFLECTIVE QUESTION: Which part are you most curious about?</a:t>
            </a:r>
          </a:p>
          <a:p>
            <a:r>
              <a:t>DEBRIEF: Confirm the structure and transition into the kick-off.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Help the trainer and participants understand the pacing.</a:t>
            </a:r>
          </a:p>
          <a:p>
            <a:r>
              <a:t>TIME: 2 minutes</a:t>
            </a:r>
          </a:p>
          <a:p>
            <a:r>
              <a:t>INSTRUCTIONS: Use this as a pacing reference and adapt if discussion runs long.</a:t>
            </a:r>
          </a:p>
          <a:p>
            <a:r>
              <a:t>REFLECTIVE QUESTION: Does this timing fit the group energy today?</a:t>
            </a:r>
          </a:p>
          <a:p>
            <a:r>
              <a:t>DEBRIEF: Keep the timeline visible as a trainer reference.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Set a welcoming, low-threshold tone and immediately signal relevance for marketers</a:t>
            </a:r>
          </a:p>
          <a:p>
            <a:r>
              <a:t>TIME: 5 minutes</a:t>
            </a:r>
          </a:p>
          <a:p>
            <a:r>
              <a:t>INSTRUCTIONS: Open with a warm welcome. Show the slide and read the bullets aloud, emphasizing 'real marketing tasks' to anchor the day in practical relevance. Avoid starting with definitions — keep it human.</a:t>
            </a:r>
          </a:p>
          <a:p>
            <a:r>
              <a:t>REFLECTIVE QUESTION: Before we dive in: who here has already tried ChatGPT or any AI tool for work, even once? Raise your hand.</a:t>
            </a:r>
          </a:p>
          <a:p>
            <a:r>
              <a:t>DEBRIEF: Acknowledge the spread of experience in the room. Reassure beginners that everyone will leave with usable skills. Note that even experienced users will learn a structured approach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Make learning goals concrete and motivating by framing them as marketing wins, not abstract skills</a:t>
            </a:r>
          </a:p>
          <a:p>
            <a:r>
              <a:t>TIME: 5 minutes</a:t>
            </a:r>
          </a:p>
          <a:p>
            <a:r>
              <a:t>INSTRUCTIONS: Walk through each bullet slowly. Ask participants to mentally tick which goals feel most relevant to their own role. Do not rush — this is where buy-in is created.</a:t>
            </a:r>
          </a:p>
          <a:p>
            <a:r>
              <a:t>REFLECTIVE QUESTION: Which of these five outcomes would save you the most time right now in your daily work?</a:t>
            </a:r>
          </a:p>
          <a:p>
            <a:r>
              <a:t>DEBRIEF: Let two or three people answer. Use their answers to signal that the training is designed around exactly those needs. Write down any specific tasks mentioned — you can reference them later in the exercises.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Create a memorable, fun experience that directly mirrors the challenge of writing good prompts — vague instructions produce vague results</a:t>
            </a:r>
          </a:p>
          <a:p>
            <a:r>
              <a:t>TIME: 10 minutes</a:t>
            </a:r>
          </a:p>
          <a:p>
            <a:r>
              <a:t>INSTRUCTIONS: Hand out sticky notes or ask participants to type in the chat if remote. Set a visible 90-second timer. After writing, ask two volunteers to read their instructions. Playfully act out following them literally — for example, if they say 'add milk' ask 'how much? warm or cold? before or after the coffee?'</a:t>
            </a:r>
          </a:p>
          <a:p>
            <a:r>
              <a:t>REFLECTIVE QUESTION: What made some instructions work and others fail?</a:t>
            </a:r>
          </a:p>
          <a:p>
            <a:r>
              <a:t>DEBRIEF: Bridge to AI: 'This is exactly what happens when you give an AI a vague prompt. The AI follows your instructions literally and fills gaps with assumptions. Today we learn how to close those gaps intentionally.'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Give participants a clear map of the day so they can mentally pace themselves</a:t>
            </a:r>
          </a:p>
          <a:p>
            <a:r>
              <a:t>TIME: 3 minutes</a:t>
            </a:r>
          </a:p>
          <a:p>
            <a:r>
              <a:t>INSTRUCTIONS: Show the agenda briefly. Point out that the majority of the time is hands-on. Mention that the break is fixed but questions are welcome throughout.</a:t>
            </a:r>
          </a:p>
          <a:p>
            <a:r>
              <a:t>REFLECTIVE QUESTION: Any questions about the structure before we start?</a:t>
            </a:r>
          </a:p>
          <a:p>
            <a:r>
              <a:t>DEBRIEF: Quickly address any logistical questions, then move forward. Keep this slide short — it is orientation, not content.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Establish the foundational mental model: prompt quality = output quality, and the marketer is in control</a:t>
            </a:r>
          </a:p>
          <a:p>
            <a:r>
              <a:t>TIME: 8 minutes</a:t>
            </a:r>
          </a:p>
          <a:p>
            <a:r>
              <a:t>INSTRUCTIONS: Explain the 'junior copywriter' analogy in your own words. Ask if anyone has been frustrated by AI giving them something generic or off-brand. Use that frustration as motivation for what comes next.</a:t>
            </a:r>
          </a:p>
          <a:p>
            <a:r>
              <a:t>REFLECTIVE QUESTION: What is the worst AI output you have ever received? What do you think caused it?</a:t>
            </a:r>
          </a:p>
          <a:p>
            <a:r>
              <a:t>DEBRIEF: Validate frustration and reframe it: 'That was not the AI's fault or yours — you just did not have a system yet. That system is what we are building today.'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Give participants just enough technical understanding to make smart prompting decisions, without overwhelming them</a:t>
            </a:r>
          </a:p>
          <a:p>
            <a:r>
              <a:t>TIME: 8 minutes</a:t>
            </a:r>
          </a:p>
          <a:p>
            <a:r>
              <a:t>INSTRUCTIONS: Use the analogy of autocomplete on a phone: 'Imagine autocomplete on steroids, trained on the entire internet.' Emphasize that this is why vague prompts produce vague outputs — the AI finds the average answer when given little direction.</a:t>
            </a:r>
          </a:p>
          <a:p>
            <a:r>
              <a:t>REFLECTIVE QUESTION: Knowing the AI is essentially predicting text, what does that change about how you would write your next prompt?</a:t>
            </a:r>
          </a:p>
          <a:p>
            <a:r>
              <a:t>DEBRIEF: Summarize: 'The more specific your context, the less the AI has to guess, and the more useful the output becomes. This is the entire logic behind what we are about to learn.'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Introduce the core framework participants will use throughout the training and take home</a:t>
            </a:r>
          </a:p>
          <a:p>
            <a:r>
              <a:t>TIME: 10 minutes</a:t>
            </a:r>
          </a:p>
          <a:p>
            <a:r>
              <a:t>INSTRUCTIONS: Write the acronym CRAFT on a whiteboard or flipchart so it stays visible all day. Go through each letter with a one-sentence marketing example. Tell participants this framework works for 90% of their daily tasks. Do not rush this slide — it is the backbone of the whole training.</a:t>
            </a:r>
          </a:p>
          <a:p>
            <a:r>
              <a:t>REFLECTIVE QUESTION: Looking at these five elements, which one do you think you currently leave out the most when using AI?</a:t>
            </a:r>
          </a:p>
          <a:p>
            <a:r>
              <a:t>DEBRIEF: Common answer: Context and Target. Validate this — most beginners write only the Action. Explain that the other four elements are what separate a usable result from a generic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Make CRAFT tangible by showing what each element looks like in real marketing language</a:t>
            </a:r>
          </a:p>
          <a:p>
            <a:r>
              <a:t>TIME: 10 minutes</a:t>
            </a:r>
          </a:p>
          <a:p>
            <a:r>
              <a:t>INSTRUCTIONS: Show each bullet as a completed sentence. Point out how together they form a full, rich prompt. Ask participants to notice how much information the AI now has to work with versus a prompt like 'write me an Instagram caption for summer fashion.'</a:t>
            </a:r>
          </a:p>
          <a:p>
            <a:r>
              <a:t>REFLECTIVE QUESTION: What would happen to the output if we removed the Target element from this prompt?</a:t>
            </a:r>
          </a:p>
          <a:p>
            <a:r>
              <a:t>DEBRIEF: Answer: the AI would write for a generic audience and the result would feel bland. Reinforce that every CRAFT element removes a decision the AI would otherwise make poorly on your behalf.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Prevent the most common failure patterns before participants hit them in the exercises</a:t>
            </a:r>
          </a:p>
          <a:p>
            <a:r>
              <a:t>TIME: 8 minutes</a:t>
            </a:r>
          </a:p>
          <a:p>
            <a:r>
              <a:t>INSTRUCTIONS: For each mistake, give a real example of a bad prompt and what it produces. If you have access to a live AI tool, demonstrate Mistake 1 and Mistake 2 in real time — type 'write a newsletter' and show the generic result, then add CRAFT and show the difference.</a:t>
            </a:r>
          </a:p>
          <a:p>
            <a:r>
              <a:t>REFLECTIVE QUESTION: Which of these mistakes do you recognize from your own experience with AI tools?</a:t>
            </a:r>
          </a:p>
          <a:p>
            <a:r>
              <a:t>DEBRIEF: Normalize the mistakes — everyone makes them at the start. Reframe: 'Now that you can name these mistakes, you will catch yourself before making them. That is already a skill.'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Shift the mindset from 'one perfect prompt' to 'a productive conversation with the AI'</a:t>
            </a:r>
          </a:p>
          <a:p>
            <a:r>
              <a:t>TIME: 8 minutes</a:t>
            </a:r>
          </a:p>
          <a:p>
            <a:r>
              <a:t>INSTRUCTIONS: Emphasize that the best prompt engineers iterate fast, not perfectly. Show the three follow-up example sentences and explain that these are reusable phrases — participants should note them down. Mention that saving good prompts is like building a marketing asset.</a:t>
            </a:r>
          </a:p>
          <a:p>
            <a:r>
              <a:t>REFLECTIVE QUESTION: What is one piece of marketing content you currently spend too much time on that iteration prompting could speed up?</a:t>
            </a:r>
          </a:p>
          <a:p>
            <a:r>
              <a:t>DEBRIEF: Use participant answers to preview the exercise. 'We will practice exactly that kind of iteration in thirty minutes. Hold that thought.'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Establish responsible use habits before participants start experimenting, without creating fear or paralysis</a:t>
            </a:r>
          </a:p>
          <a:p>
            <a:r>
              <a:t>TIME: 5 minutes</a:t>
            </a:r>
          </a:p>
          <a:p>
            <a:r>
              <a:t>INSTRUCTIONS: Keep this section brief and practical, not legalistic. Frame it as professional hygiene, not a warning. If your organization has a specific AI policy, reference it here. Emphasize the human review step — AI is a collaborator, not a replacement for judgment.</a:t>
            </a:r>
          </a:p>
          <a:p>
            <a:r>
              <a:t>REFLECTIVE QUESTION: Does your team currently have a shared agreement about how to use AI tools? If not, what would be the one rule you would want?</a:t>
            </a:r>
          </a:p>
          <a:p>
            <a:r>
              <a:t>DEBRIEF: Note any useful answers. Suggest that creating a short team agreement is a concrete next step they can take after the training.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Ground the theory in a realistic, recognizable marketing scenario that participants can immediately relate to</a:t>
            </a:r>
          </a:p>
          <a:p>
            <a:r>
              <a:t>TIME: 5 minutes</a:t>
            </a:r>
          </a:p>
          <a:p>
            <a:r>
              <a:t>INSTRUCTIONS: Introduce the scenario clearly before touching the AI tool. Give participants a printed or on-screen version of the brief so they can follow along. Ask: 'If this brief landed on your desk today, where would you start?' Then show how CRAFT structures the answer.</a:t>
            </a:r>
          </a:p>
          <a:p>
            <a:r>
              <a:t>REFLECTIVE QUESTION: What information from this brief would you put into each letter of CRAFT?</a:t>
            </a:r>
          </a:p>
          <a:p>
            <a:r>
              <a:t>DEBRIEF: Take 2–3 answers. Then say: 'Let me show you how I would build this prompt. Watch what happens at each step.'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Demonstrate the CRAFT framework applied to a real prompt, showing participants exactly what a well-constructed prompt looks like</a:t>
            </a:r>
          </a:p>
          <a:p>
            <a:r>
              <a:t>TIME: 10 minutes</a:t>
            </a:r>
          </a:p>
          <a:p>
            <a:r>
              <a:t>INSTRUCTIONS: Type this prompt live into the AI tool with the audience watching. Build it element by element — do not paste it all at once. Narrate each addition: 'Now I am adding the Target because I want the AI to know who will read this.' After submitting, read the output aloud and ask participants to evaluate it.</a:t>
            </a:r>
          </a:p>
          <a:p>
            <a:r>
              <a:t>REFLECTIVE QUESTION: Looking at the output: what worked well? What would you still change?</a:t>
            </a:r>
          </a:p>
          <a:p>
            <a:r>
              <a:t>DEBRIEF: Collect 2–3 observations. Use them to set up the next slide on iteration — 'Great, now let us fix those things with a follow-up prompt.'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Show that iteration is fast, targeted, and produces dramatically better results than accepting the first output</a:t>
            </a:r>
          </a:p>
          <a:p>
            <a:r>
              <a:t>TIME: 10 minutes</a:t>
            </a:r>
          </a:p>
          <a:p>
            <a:r>
              <a:t>INSTRUCTIONS: Type the follow-up prompts live. Make a point of not rewriting the entire prompt — show that you are only addressing the specific problem. After each follow-up, compare the new output to the previous one and name the improvement explicitly.</a:t>
            </a:r>
          </a:p>
          <a:p>
            <a:r>
              <a:t>REFLECTIVE QUESTION: What follow-up prompt would you write if the output was great in tone but the product benefit was too vague?</a:t>
            </a:r>
          </a:p>
          <a:p>
            <a:r>
              <a:t>DEBRIEF: Let one participant suggest a follow-up. Try it live if time allows. This moment of co-creation is highly memorable and builds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Help participants connect the live demonstration back to the framework so they can replicate the process independently</a:t>
            </a:r>
          </a:p>
          <a:p>
            <a:r>
              <a:t>TIME: 5 minutes</a:t>
            </a:r>
          </a:p>
          <a:p>
            <a:r>
              <a:t>INSTRUCTIONS: Use this slide as a debrief of the example. Map each step explicitly to CRAFT. Reinforce that the process is repeatable — participants should feel they could do this themselves right now. Transition directly into the exercise with energy.</a:t>
            </a:r>
          </a:p>
          <a:p>
            <a:r>
              <a:t>REFLECTIVE QUESTION: Do you feel ready to try this yourself with a real task from your own work?</a:t>
            </a:r>
          </a:p>
          <a:p>
            <a:r>
              <a:t>DEBRIEF: Use enthusiasm from the room to launch the exercise. If there is hesitation, normalize it: 'Your first prompt does not need to be perfect — it just needs to exist. We will improve it together.'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Brief participants clearly so they can work independently without needing repeated clarification</a:t>
            </a:r>
          </a:p>
          <a:p>
            <a:r>
              <a:t>TIME: 5 minutes</a:t>
            </a:r>
          </a:p>
          <a:p>
            <a:r>
              <a:t>INSTRUCTIONS: Read the steps aloud and check for understanding. Emphasize 'real marketing task' — not a made-up scenario. If someone cannot think of one, have a list of backup tasks ready: write three Instagram captions for an upcoming event, generate five email subject line options for a monthly newsletter, write a short LinkedIn post announcing a company milestone.</a:t>
            </a:r>
          </a:p>
          <a:p>
            <a:r>
              <a:t>REFLECTIVE QUESTION: What task have you already decided you want to work on? Say it out loud to your neighbor.</a:t>
            </a:r>
          </a:p>
          <a:p>
            <a:r>
              <a:t>DEBRIEF: The act of saying the task aloud commits participants to it. Circulate during the exercise to support anyone who is stuck on the CRAFT structure.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Give participants a structured scaffold they can fill in immediately without having to remember the framework from memory</a:t>
            </a:r>
          </a:p>
          <a:p>
            <a:r>
              <a:t>TIME: 1 minute to introduce, then participants work independently</a:t>
            </a:r>
          </a:p>
          <a:p>
            <a:r>
              <a:t>INSTRUCTIONS: Hand out a printed version of this template or share it in the digital workspace. Tell participants they can copy-paste their completed template directly into the AI tool as their first prompt. Remind them the template is also something they take home and reuse.</a:t>
            </a:r>
          </a:p>
          <a:p>
            <a:r>
              <a:t>REFLECTIVE QUESTION: Which element of CRAFT is hardest for you to fill in right now?</a:t>
            </a:r>
          </a:p>
          <a:p>
            <a:r>
              <a:t>DEBRIEF: Address the hardest element during your circulation. Common answer: Context — help participants describe their brand voice if they are unsure how to articulate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Give participants a cheat sheet of targeted follow-up prompts so they do not get stuck when the first output is not quite right</a:t>
            </a:r>
          </a:p>
          <a:p>
            <a:r>
              <a:t>TIME: Ongoing reference during the 20-minute individual work phase</a:t>
            </a:r>
          </a:p>
          <a:p>
            <a:r>
              <a:t>INSTRUCTIONS: Keep this slide visible on screen throughout the individual work phase. Tell participants these are rescue prompts — if they get stuck, they can use any of these. Circulate actively and refer participants to specific bullets when you see them struggling.</a:t>
            </a:r>
          </a:p>
          <a:p>
            <a:r>
              <a:t>REFLECTIVE QUESTION: After your first output: which of these coaching prompts do you need right now?</a:t>
            </a:r>
          </a:p>
          <a:p>
            <a:r>
              <a:t>DEBRIEF: After 20 minutes, call time on individual work. Ask: 'Who has an output they are proud of? Who has an output that surprised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Consolidate learning through structured peer feedback and make individual insights collective</a:t>
            </a:r>
          </a:p>
          <a:p>
            <a:r>
              <a:t>TIME: 15 minutes — 5 minutes pair review, 10 minutes group share</a:t>
            </a:r>
          </a:p>
          <a:p>
            <a:r>
              <a:t>INSTRUCTIONS: Pair participants who worked on different types of tasks if possible — this increases the diversity of examples. For group share, select pairs who had interestingly different experiences (one who got a great first output, one who needed several iterations). Facilitate the debrief by drawing out the patterns you observed while circulating.</a:t>
            </a:r>
          </a:p>
          <a:p>
            <a:r>
              <a:t>REFLECTIVE QUESTION: What is one thing your partner did in their prompt that you are going to steal for your own work?</a:t>
            </a:r>
          </a:p>
          <a:p>
            <a:r>
              <a:t>DEBRIEF: Celebrate concrete wins. Name specific things that worked well and explain why they worked in terms of CRAFT. This reinforces the framework through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Close the learning loop by naming exactly what participants can do now — making the learning tangible and confidence-building</a:t>
            </a:r>
          </a:p>
          <a:p>
            <a:r>
              <a:t>TIME: 5 minutes</a:t>
            </a:r>
          </a:p>
          <a:p>
            <a:r>
              <a:t>INSTRUCTIONS: Read each skill and briefly link it back to something that happened in the training — the energizer, the live demo, their own exercise. This narrative callback makes the learning feel earned, not just taught.</a:t>
            </a:r>
          </a:p>
          <a:p>
            <a:r>
              <a:t>REFLECTIVE QUESTION: Which of these five skills feels most new to you compared to where you started this morning?</a:t>
            </a:r>
          </a:p>
          <a:p>
            <a:r>
              <a:t>DEBRIEF: Let two or three people answer. Acknowledge the growth explicitly. Transition to the next slide on practical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Make transfer to real work concrete by giving participants specific, time-bound actions rather than vague intentions</a:t>
            </a:r>
          </a:p>
          <a:p>
            <a:r>
              <a:t>TIME: 5 minutes</a:t>
            </a:r>
          </a:p>
          <a:p>
            <a:r>
              <a:t>INSTRUCTIONS: Ask participants to write down or highlight the one action they will definitely do this week. If time allows, have them share it with the person next to them as a commitment. The shared prompt library idea often sparks team enthusiasm — encourage it.</a:t>
            </a:r>
          </a:p>
          <a:p>
            <a:r>
              <a:t>REFLECTIVE QUESTION: What is the very first piece of content you will write using CRAFT when you get back to your desk?</a:t>
            </a:r>
          </a:p>
          <a:p>
            <a:r>
              <a:t>DEBRIEF: Let three people share their answers. The specificity of real planned actions is a strong signal that transfer will happen. Make note of common answers to include in your follow-up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Send participants away with clear resources, a low-bar first action, and a support channel so momentum is not lost</a:t>
            </a:r>
          </a:p>
          <a:p>
            <a:r>
              <a:t>TIME: 5 minutes</a:t>
            </a:r>
          </a:p>
          <a:p>
            <a:r>
              <a:t>INSTRUCTIONS: Distribute the printed toolkit if available. Walk through each item briefly. Emphasize the 15-minute challenge as a specific, achievable first step. End the training on an energetic, forward-looking note — not a summary, but a launch.</a:t>
            </a:r>
          </a:p>
          <a:p>
            <a:r>
              <a:t>REFLECTIVE QUESTION: What is one word to describe how you feel about using AI for your marketing work now compared to when you walked in this morning?</a:t>
            </a:r>
          </a:p>
          <a:p>
            <a:r>
              <a:t>DEBRIEF: Do a quick word-around the room — one word each. Common shift: from 'unsure' or 'confused' to 'curious' or 'ready.' Celebrate that shift explicitly. Close with: 'The best prompt you will ever write is the next one you 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0040"/>
        </a:solidFill>
        <a:effectLst/>
      </p:bgPr>
    </p:bg>
    <p:spTree>
      <p:nvGrpSpPr>
        <p:cNvPr id="1" name=""/>
        <p:cNvGrpSpPr/>
        <p:nvPr/>
      </p:nvGrpSpPr>
      <p:grpSpPr/>
      <p:sp>
        <p:nvSpPr>
          <p:cNvPr id="2" name="TextBox 1"/>
          <p:cNvSpPr txBox="1"/>
          <p:nvPr/>
        </p:nvSpPr>
        <p:spPr>
          <a:xfrm>
            <a:off x="324000" y="522000"/>
            <a:ext cx="4031999" cy="576000"/>
          </a:xfrm>
          <a:prstGeom prst="rect">
            <a:avLst/>
          </a:prstGeom>
          <a:noFill/>
        </p:spPr>
        <p:txBody>
          <a:bodyPr wrap="square">
            <a:normAutofit/>
          </a:bodyPr>
          <a:lstStyle/>
          <a:p>
            <a:pPr>
              <a:defRPr sz="3400" b="1">
                <a:solidFill>
                  <a:srgbClr val="F2F2F2"/>
                </a:solidFill>
                <a:latin typeface="Calibri"/>
              </a:defRPr>
            </a:pPr>
            <a:r>
              <a:t>Prompt Engineering for Marketers</a:t>
            </a:r>
          </a:p>
        </p:txBody>
      </p:sp>
      <p:sp>
        <p:nvSpPr>
          <p:cNvPr id="3" name="TextBox 2"/>
          <p:cNvSpPr txBox="1"/>
          <p:nvPr/>
        </p:nvSpPr>
        <p:spPr>
          <a:xfrm>
            <a:off x="360000" y="1206000"/>
            <a:ext cx="3420000" cy="558000"/>
          </a:xfrm>
          <a:prstGeom prst="rect">
            <a:avLst/>
          </a:prstGeom>
          <a:noFill/>
        </p:spPr>
        <p:txBody>
          <a:bodyPr wrap="square">
            <a:normAutofit/>
          </a:bodyPr>
          <a:lstStyle/>
          <a:p>
            <a:pPr>
              <a:spcAft>
                <a:spcPts val="700"/>
              </a:spcAft>
              <a:defRPr sz="1800">
                <a:solidFill>
                  <a:srgbClr val="F2F2F2"/>
                </a:solidFill>
                <a:latin typeface="Calibri"/>
              </a:defRPr>
            </a:pPr>
            <a:r>
              <a:t>A practical training built around real participant tasks</a:t>
            </a:r>
          </a:p>
          <a:p>
            <a:pPr>
              <a:spcAft>
                <a:spcPts val="700"/>
              </a:spcAft>
              <a:defRPr sz="1800">
                <a:solidFill>
                  <a:srgbClr val="F2F2F2"/>
                </a:solidFill>
                <a:latin typeface="Calibri"/>
              </a:defRPr>
            </a:pPr>
            <a:r>
              <a:t>Clear concepts, recognizable examples, and active practice</a:t>
            </a:r>
          </a:p>
        </p:txBody>
      </p:sp>
      <p:sp>
        <p:nvSpPr>
          <p:cNvPr id="4" name="Rectangle 3"/>
          <p:cNvSpPr/>
          <p:nvPr/>
        </p:nvSpPr>
        <p:spPr>
          <a:xfrm>
            <a:off x="324000" y="1998000"/>
            <a:ext cx="1152000" cy="57600"/>
          </a:xfrm>
          <a:prstGeom prst="rect">
            <a:avLst/>
          </a:prstGeom>
          <a:solidFill>
            <a:srgbClr val="EF4453"/>
          </a:solidFill>
          <a:ln>
            <a:solidFill>
              <a:srgbClr val="EF4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466000"/>
            <a:ext cx="4799880" cy="18000"/>
          </a:xfrm>
          <a:prstGeom prst="rect">
            <a:avLst/>
          </a:prstGeom>
          <a:solidFill>
            <a:srgbClr val="EF4453"/>
          </a:solidFill>
          <a:ln>
            <a:solidFill>
              <a:srgbClr val="EF4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verx_Logo.png"/>
          <p:cNvPicPr>
            <a:picLocks noChangeAspect="1"/>
          </p:cNvPicPr>
          <p:nvPr/>
        </p:nvPicPr>
        <p:blipFill>
          <a:blip r:embed="rId2"/>
          <a:stretch>
            <a:fillRect/>
          </a:stretch>
        </p:blipFill>
        <p:spPr>
          <a:xfrm>
            <a:off x="198000" y="2527200"/>
            <a:ext cx="100543" cy="100800"/>
          </a:xfrm>
          <a:prstGeom prst="rect">
            <a:avLst/>
          </a:prstGeom>
        </p:spPr>
      </p:pic>
      <p:sp>
        <p:nvSpPr>
          <p:cNvPr id="7" name="TextBox 6"/>
          <p:cNvSpPr txBox="1"/>
          <p:nvPr/>
        </p:nvSpPr>
        <p:spPr>
          <a:xfrm>
            <a:off x="3791880" y="2512800"/>
            <a:ext cx="810000" cy="108000"/>
          </a:xfrm>
          <a:prstGeom prst="rect">
            <a:avLst/>
          </a:prstGeom>
          <a:noFill/>
        </p:spPr>
        <p:txBody>
          <a:bodyPr wrap="square">
            <a:normAutofit/>
          </a:bodyPr>
          <a:lstStyle/>
          <a:p>
            <a:pPr algn="r">
              <a:defRPr sz="800" b="0">
                <a:solidFill>
                  <a:srgbClr val="F2F2F2"/>
                </a:solidFill>
                <a:latin typeface="Calibri"/>
              </a:defRPr>
            </a:pPr>
            <a:r>
              <a:t>maverx.nl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What We Will Cover</a:t>
            </a:r>
          </a:p>
        </p:txBody>
      </p:sp>
      <p:sp>
        <p:nvSpPr>
          <p:cNvPr id="3" name="Rectangle 2"/>
          <p:cNvSpPr/>
          <p:nvPr/>
        </p:nvSpPr>
        <p:spPr>
          <a:xfrm>
            <a:off x="306000" y="514800"/>
            <a:ext cx="450000" cy="2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6000" y="737999"/>
            <a:ext cx="1872000" cy="1530000"/>
          </a:xfrm>
          <a:prstGeom prst="rect">
            <a:avLst/>
          </a:prstGeom>
          <a:noFill/>
        </p:spPr>
        <p:txBody>
          <a:bodyPr wrap="square">
            <a:normAutofit/>
          </a:bodyPr>
          <a:lstStyle/>
          <a:p>
            <a:pPr>
              <a:spcAft>
                <a:spcPts val="700"/>
              </a:spcAft>
              <a:defRPr sz="1800">
                <a:solidFill>
                  <a:srgbClr val="0D006A"/>
                </a:solidFill>
                <a:latin typeface="Calibri"/>
              </a:defRPr>
            </a:pPr>
            <a:r>
              <a:t>Kick-off</a:t>
            </a:r>
          </a:p>
          <a:p>
            <a:pPr>
              <a:spcAft>
                <a:spcPts val="700"/>
              </a:spcAft>
              <a:defRPr sz="1800">
                <a:solidFill>
                  <a:srgbClr val="0D006A"/>
                </a:solidFill>
                <a:latin typeface="Calibri"/>
              </a:defRPr>
            </a:pPr>
            <a:r>
              <a:t>Theory</a:t>
            </a:r>
          </a:p>
          <a:p>
            <a:pPr>
              <a:spcAft>
                <a:spcPts val="700"/>
              </a:spcAft>
              <a:defRPr sz="1800">
                <a:solidFill>
                  <a:srgbClr val="0D006A"/>
                </a:solidFill>
                <a:latin typeface="Calibri"/>
              </a:defRPr>
            </a:pPr>
            <a:r>
              <a:t>Example</a:t>
            </a:r>
          </a:p>
        </p:txBody>
      </p:sp>
      <p:sp>
        <p:nvSpPr>
          <p:cNvPr id="5" name="TextBox 4"/>
          <p:cNvSpPr txBox="1"/>
          <p:nvPr/>
        </p:nvSpPr>
        <p:spPr>
          <a:xfrm>
            <a:off x="2520000" y="737999"/>
            <a:ext cx="1800000" cy="1530000"/>
          </a:xfrm>
          <a:prstGeom prst="rect">
            <a:avLst/>
          </a:prstGeom>
          <a:noFill/>
        </p:spPr>
        <p:txBody>
          <a:bodyPr wrap="square">
            <a:normAutofit/>
          </a:bodyPr>
          <a:lstStyle/>
          <a:p>
            <a:pPr>
              <a:spcAft>
                <a:spcPts val="700"/>
              </a:spcAft>
              <a:defRPr sz="1800">
                <a:solidFill>
                  <a:srgbClr val="0D006A"/>
                </a:solidFill>
                <a:latin typeface="Calibri"/>
              </a:defRPr>
            </a:pPr>
            <a:r>
              <a:t>Exercise</a:t>
            </a:r>
          </a:p>
          <a:p>
            <a:pPr>
              <a:spcAft>
                <a:spcPts val="700"/>
              </a:spcAft>
              <a:defRPr sz="1800">
                <a:solidFill>
                  <a:srgbClr val="0D006A"/>
                </a:solidFill>
                <a:latin typeface="Calibri"/>
              </a:defRPr>
            </a:pPr>
            <a:r>
              <a:t>Wrap-up</a:t>
            </a:r>
          </a:p>
        </p:txBody>
      </p:sp>
      <p:sp>
        <p:nvSpPr>
          <p:cNvPr id="6" name="Rectangle 5"/>
          <p:cNvSpPr/>
          <p:nvPr/>
        </p:nvSpPr>
        <p:spPr>
          <a:xfrm>
            <a:off x="0" y="2466000"/>
            <a:ext cx="4799880" cy="180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verx_Logo.png"/>
          <p:cNvPicPr>
            <a:picLocks noChangeAspect="1"/>
          </p:cNvPicPr>
          <p:nvPr/>
        </p:nvPicPr>
        <p:blipFill>
          <a:blip r:embed="rId2"/>
          <a:stretch>
            <a:fillRect/>
          </a:stretch>
        </p:blipFill>
        <p:spPr>
          <a:xfrm>
            <a:off x="198000" y="2527200"/>
            <a:ext cx="100543" cy="100800"/>
          </a:xfrm>
          <a:prstGeom prst="rect">
            <a:avLst/>
          </a:prstGeom>
        </p:spPr>
      </p:pic>
      <p:sp>
        <p:nvSpPr>
          <p:cNvPr id="8" name="TextBox 7"/>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Session Timeline</a:t>
            </a:r>
          </a:p>
        </p:txBody>
      </p:sp>
      <p:sp>
        <p:nvSpPr>
          <p:cNvPr id="3" name="Rectangle 2"/>
          <p:cNvSpPr/>
          <p:nvPr/>
        </p:nvSpPr>
        <p:spPr>
          <a:xfrm>
            <a:off x="306000" y="514800"/>
            <a:ext cx="450000" cy="2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6000" y="648000"/>
            <a:ext cx="720000" cy="172800"/>
          </a:xfrm>
          <a:prstGeom prst="rect">
            <a:avLst/>
          </a:prstGeom>
          <a:noFill/>
        </p:spPr>
        <p:txBody>
          <a:bodyPr wrap="square">
            <a:normAutofit/>
          </a:bodyPr>
          <a:lstStyle/>
          <a:p>
            <a:pPr>
              <a:defRPr sz="1400" b="1">
                <a:solidFill>
                  <a:srgbClr val="3F0576"/>
                </a:solidFill>
                <a:latin typeface="Calibri"/>
              </a:defRPr>
            </a:pPr>
            <a:r>
              <a:t>00:00</a:t>
            </a:r>
          </a:p>
        </p:txBody>
      </p:sp>
      <p:sp>
        <p:nvSpPr>
          <p:cNvPr id="5" name="TextBox 4"/>
          <p:cNvSpPr txBox="1"/>
          <p:nvPr/>
        </p:nvSpPr>
        <p:spPr>
          <a:xfrm>
            <a:off x="1206000" y="648000"/>
            <a:ext cx="3024000" cy="172800"/>
          </a:xfrm>
          <a:prstGeom prst="rect">
            <a:avLst/>
          </a:prstGeom>
          <a:noFill/>
        </p:spPr>
        <p:txBody>
          <a:bodyPr wrap="square">
            <a:normAutofit/>
          </a:bodyPr>
          <a:lstStyle/>
          <a:p>
            <a:pPr>
              <a:defRPr sz="1500" b="0">
                <a:solidFill>
                  <a:srgbClr val="0D006A"/>
                </a:solidFill>
                <a:latin typeface="Calibri"/>
              </a:defRPr>
            </a:pPr>
            <a:r>
              <a:t>Kick-off</a:t>
            </a:r>
          </a:p>
        </p:txBody>
      </p:sp>
      <p:sp>
        <p:nvSpPr>
          <p:cNvPr id="6" name="TextBox 5"/>
          <p:cNvSpPr txBox="1"/>
          <p:nvPr/>
        </p:nvSpPr>
        <p:spPr>
          <a:xfrm>
            <a:off x="396000" y="878400"/>
            <a:ext cx="720000" cy="172800"/>
          </a:xfrm>
          <a:prstGeom prst="rect">
            <a:avLst/>
          </a:prstGeom>
          <a:noFill/>
        </p:spPr>
        <p:txBody>
          <a:bodyPr wrap="square">
            <a:normAutofit/>
          </a:bodyPr>
          <a:lstStyle/>
          <a:p>
            <a:pPr>
              <a:defRPr sz="1400" b="1">
                <a:solidFill>
                  <a:srgbClr val="3F0576"/>
                </a:solidFill>
                <a:latin typeface="Calibri"/>
              </a:defRPr>
            </a:pPr>
            <a:r>
              <a:t>00:15</a:t>
            </a:r>
          </a:p>
        </p:txBody>
      </p:sp>
      <p:sp>
        <p:nvSpPr>
          <p:cNvPr id="7" name="TextBox 6"/>
          <p:cNvSpPr txBox="1"/>
          <p:nvPr/>
        </p:nvSpPr>
        <p:spPr>
          <a:xfrm>
            <a:off x="1206000" y="878400"/>
            <a:ext cx="3024000" cy="172800"/>
          </a:xfrm>
          <a:prstGeom prst="rect">
            <a:avLst/>
          </a:prstGeom>
          <a:noFill/>
        </p:spPr>
        <p:txBody>
          <a:bodyPr wrap="square">
            <a:normAutofit/>
          </a:bodyPr>
          <a:lstStyle/>
          <a:p>
            <a:pPr>
              <a:defRPr sz="1500" b="0">
                <a:solidFill>
                  <a:srgbClr val="0D006A"/>
                </a:solidFill>
                <a:latin typeface="Calibri"/>
              </a:defRPr>
            </a:pPr>
            <a:r>
              <a:t>Theory</a:t>
            </a:r>
          </a:p>
        </p:txBody>
      </p:sp>
      <p:sp>
        <p:nvSpPr>
          <p:cNvPr id="8" name="TextBox 7"/>
          <p:cNvSpPr txBox="1"/>
          <p:nvPr/>
        </p:nvSpPr>
        <p:spPr>
          <a:xfrm>
            <a:off x="396000" y="1108800"/>
            <a:ext cx="720000" cy="172800"/>
          </a:xfrm>
          <a:prstGeom prst="rect">
            <a:avLst/>
          </a:prstGeom>
          <a:noFill/>
        </p:spPr>
        <p:txBody>
          <a:bodyPr wrap="square">
            <a:normAutofit/>
          </a:bodyPr>
          <a:lstStyle/>
          <a:p>
            <a:pPr>
              <a:defRPr sz="1400" b="1">
                <a:solidFill>
                  <a:srgbClr val="3F0576"/>
                </a:solidFill>
                <a:latin typeface="Calibri"/>
              </a:defRPr>
            </a:pPr>
            <a:r>
              <a:t>01:10</a:t>
            </a:r>
          </a:p>
        </p:txBody>
      </p:sp>
      <p:sp>
        <p:nvSpPr>
          <p:cNvPr id="9" name="TextBox 8"/>
          <p:cNvSpPr txBox="1"/>
          <p:nvPr/>
        </p:nvSpPr>
        <p:spPr>
          <a:xfrm>
            <a:off x="1206000" y="1108800"/>
            <a:ext cx="3024000" cy="172800"/>
          </a:xfrm>
          <a:prstGeom prst="rect">
            <a:avLst/>
          </a:prstGeom>
          <a:noFill/>
        </p:spPr>
        <p:txBody>
          <a:bodyPr wrap="square">
            <a:normAutofit/>
          </a:bodyPr>
          <a:lstStyle/>
          <a:p>
            <a:pPr>
              <a:defRPr sz="1500" b="0">
                <a:solidFill>
                  <a:srgbClr val="0D006A"/>
                </a:solidFill>
                <a:latin typeface="Calibri"/>
              </a:defRPr>
            </a:pPr>
            <a:r>
              <a:t>Example</a:t>
            </a:r>
          </a:p>
        </p:txBody>
      </p:sp>
      <p:sp>
        <p:nvSpPr>
          <p:cNvPr id="10" name="TextBox 9"/>
          <p:cNvSpPr txBox="1"/>
          <p:nvPr/>
        </p:nvSpPr>
        <p:spPr>
          <a:xfrm>
            <a:off x="396000" y="1339200"/>
            <a:ext cx="720000" cy="172800"/>
          </a:xfrm>
          <a:prstGeom prst="rect">
            <a:avLst/>
          </a:prstGeom>
          <a:noFill/>
        </p:spPr>
        <p:txBody>
          <a:bodyPr wrap="square">
            <a:normAutofit/>
          </a:bodyPr>
          <a:lstStyle/>
          <a:p>
            <a:pPr>
              <a:defRPr sz="1400" b="1">
                <a:solidFill>
                  <a:srgbClr val="3F0576"/>
                </a:solidFill>
                <a:latin typeface="Calibri"/>
              </a:defRPr>
            </a:pPr>
            <a:r>
              <a:t>01:40</a:t>
            </a:r>
          </a:p>
        </p:txBody>
      </p:sp>
      <p:sp>
        <p:nvSpPr>
          <p:cNvPr id="11" name="TextBox 10"/>
          <p:cNvSpPr txBox="1"/>
          <p:nvPr/>
        </p:nvSpPr>
        <p:spPr>
          <a:xfrm>
            <a:off x="1206000" y="1339200"/>
            <a:ext cx="3024000" cy="172800"/>
          </a:xfrm>
          <a:prstGeom prst="rect">
            <a:avLst/>
          </a:prstGeom>
          <a:noFill/>
        </p:spPr>
        <p:txBody>
          <a:bodyPr wrap="square">
            <a:normAutofit/>
          </a:bodyPr>
          <a:lstStyle/>
          <a:p>
            <a:pPr>
              <a:defRPr sz="1500" b="0">
                <a:solidFill>
                  <a:srgbClr val="0D006A"/>
                </a:solidFill>
                <a:latin typeface="Calibri"/>
              </a:defRPr>
            </a:pPr>
            <a:r>
              <a:t>Exercise</a:t>
            </a:r>
          </a:p>
        </p:txBody>
      </p:sp>
      <p:sp>
        <p:nvSpPr>
          <p:cNvPr id="12" name="TextBox 11"/>
          <p:cNvSpPr txBox="1"/>
          <p:nvPr/>
        </p:nvSpPr>
        <p:spPr>
          <a:xfrm>
            <a:off x="396000" y="1569600"/>
            <a:ext cx="720000" cy="172800"/>
          </a:xfrm>
          <a:prstGeom prst="rect">
            <a:avLst/>
          </a:prstGeom>
          <a:noFill/>
        </p:spPr>
        <p:txBody>
          <a:bodyPr wrap="square">
            <a:normAutofit/>
          </a:bodyPr>
          <a:lstStyle/>
          <a:p>
            <a:pPr>
              <a:defRPr sz="1400" b="1">
                <a:solidFill>
                  <a:srgbClr val="3F0576"/>
                </a:solidFill>
                <a:latin typeface="Calibri"/>
              </a:defRPr>
            </a:pPr>
            <a:r>
              <a:t>02:40</a:t>
            </a:r>
          </a:p>
        </p:txBody>
      </p:sp>
      <p:sp>
        <p:nvSpPr>
          <p:cNvPr id="13" name="TextBox 12"/>
          <p:cNvSpPr txBox="1"/>
          <p:nvPr/>
        </p:nvSpPr>
        <p:spPr>
          <a:xfrm>
            <a:off x="1206000" y="1569600"/>
            <a:ext cx="3024000" cy="172800"/>
          </a:xfrm>
          <a:prstGeom prst="rect">
            <a:avLst/>
          </a:prstGeom>
          <a:noFill/>
        </p:spPr>
        <p:txBody>
          <a:bodyPr wrap="square">
            <a:normAutofit/>
          </a:bodyPr>
          <a:lstStyle/>
          <a:p>
            <a:pPr>
              <a:defRPr sz="1500" b="0">
                <a:solidFill>
                  <a:srgbClr val="0D006A"/>
                </a:solidFill>
                <a:latin typeface="Calibri"/>
              </a:defRPr>
            </a:pPr>
            <a:r>
              <a:t>Wrap-up</a:t>
            </a:r>
          </a:p>
        </p:txBody>
      </p:sp>
      <p:sp>
        <p:nvSpPr>
          <p:cNvPr id="14" name="Rectangle 13"/>
          <p:cNvSpPr/>
          <p:nvPr/>
        </p:nvSpPr>
        <p:spPr>
          <a:xfrm>
            <a:off x="0" y="2466000"/>
            <a:ext cx="4799880" cy="180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Maverx_Logo.png"/>
          <p:cNvPicPr>
            <a:picLocks noChangeAspect="1"/>
          </p:cNvPicPr>
          <p:nvPr/>
        </p:nvPicPr>
        <p:blipFill>
          <a:blip r:embed="rId2"/>
          <a:stretch>
            <a:fillRect/>
          </a:stretch>
        </p:blipFill>
        <p:spPr>
          <a:xfrm>
            <a:off x="198000" y="2527200"/>
            <a:ext cx="100543" cy="100800"/>
          </a:xfrm>
          <a:prstGeom prst="rect">
            <a:avLst/>
          </a:prstGeom>
        </p:spPr>
      </p:pic>
      <p:sp>
        <p:nvSpPr>
          <p:cNvPr id="16" name="TextBox 15"/>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E9FF"/>
        </a:solidFill>
        <a:effectLst/>
      </p:bgPr>
    </p:bg>
    <p:spTree>
      <p:nvGrpSpPr>
        <p:cNvPr id="1" name=""/>
        <p:cNvGrpSpPr/>
        <p:nvPr/>
      </p:nvGrpSpPr>
      <p:grpSpPr/>
      <p:sp>
        <p:nvSpPr>
          <p:cNvPr id="2" name="TextBox 1"/>
          <p:cNvSpPr txBox="1"/>
          <p:nvPr/>
        </p:nvSpPr>
        <p:spPr>
          <a:xfrm>
            <a:off x="324000" y="522000"/>
            <a:ext cx="4031999" cy="576000"/>
          </a:xfrm>
          <a:prstGeom prst="rect">
            <a:avLst/>
          </a:prstGeom>
          <a:noFill/>
        </p:spPr>
        <p:txBody>
          <a:bodyPr wrap="square">
            <a:normAutofit/>
          </a:bodyPr>
          <a:lstStyle/>
          <a:p>
            <a:pPr>
              <a:defRPr sz="3400" b="1">
                <a:solidFill>
                  <a:srgbClr val="0D006A"/>
                </a:solidFill>
                <a:latin typeface="Calibri"/>
              </a:defRPr>
            </a:pPr>
            <a:r>
              <a:t>Welcome: Prompt Engineering for Marketers</a:t>
            </a:r>
          </a:p>
        </p:txBody>
      </p:sp>
      <p:sp>
        <p:nvSpPr>
          <p:cNvPr id="3" name="TextBox 2"/>
          <p:cNvSpPr txBox="1"/>
          <p:nvPr/>
        </p:nvSpPr>
        <p:spPr>
          <a:xfrm>
            <a:off x="360000" y="1206000"/>
            <a:ext cx="3420000" cy="558000"/>
          </a:xfrm>
          <a:prstGeom prst="rect">
            <a:avLst/>
          </a:prstGeom>
          <a:noFill/>
        </p:spPr>
        <p:txBody>
          <a:bodyPr wrap="square">
            <a:normAutofit/>
          </a:bodyPr>
          <a:lstStyle/>
          <a:p>
            <a:pPr>
              <a:spcAft>
                <a:spcPts val="700"/>
              </a:spcAft>
              <a:defRPr sz="1800">
                <a:solidFill>
                  <a:srgbClr val="F2F2F2"/>
                </a:solidFill>
                <a:latin typeface="Calibri"/>
              </a:defRPr>
            </a:pPr>
            <a:r>
              <a:t>By the end of today you can write prompts that save you time on real marketing tasks</a:t>
            </a:r>
          </a:p>
          <a:p>
            <a:pPr>
              <a:spcAft>
                <a:spcPts val="700"/>
              </a:spcAft>
              <a:defRPr sz="1800">
                <a:solidFill>
                  <a:srgbClr val="F2F2F2"/>
                </a:solidFill>
                <a:latin typeface="Calibri"/>
              </a:defRPr>
            </a:pPr>
            <a:r>
              <a:t>No coding, no technical background needed — just clear thinking and good writing</a:t>
            </a:r>
          </a:p>
          <a:p>
            <a:pPr>
              <a:spcAft>
                <a:spcPts val="700"/>
              </a:spcAft>
              <a:defRPr sz="1800">
                <a:solidFill>
                  <a:srgbClr val="F2F2F2"/>
                </a:solidFill>
                <a:latin typeface="Calibri"/>
              </a:defRPr>
            </a:pPr>
            <a:r>
              <a:t>We will move from concept to practice within the first hour</a:t>
            </a:r>
          </a:p>
        </p:txBody>
      </p:sp>
      <p:sp>
        <p:nvSpPr>
          <p:cNvPr id="4" name="Rectangle 3"/>
          <p:cNvSpPr/>
          <p:nvPr/>
        </p:nvSpPr>
        <p:spPr>
          <a:xfrm>
            <a:off x="324000" y="1998000"/>
            <a:ext cx="1152000" cy="576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466000"/>
            <a:ext cx="4799880" cy="180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verx_Logo.png"/>
          <p:cNvPicPr>
            <a:picLocks noChangeAspect="1"/>
          </p:cNvPicPr>
          <p:nvPr/>
        </p:nvPicPr>
        <p:blipFill>
          <a:blip r:embed="rId2"/>
          <a:stretch>
            <a:fillRect/>
          </a:stretch>
        </p:blipFill>
        <p:spPr>
          <a:xfrm>
            <a:off x="198000" y="2527200"/>
            <a:ext cx="100543" cy="100800"/>
          </a:xfrm>
          <a:prstGeom prst="rect">
            <a:avLst/>
          </a:prstGeom>
        </p:spPr>
      </p:pic>
      <p:sp>
        <p:nvSpPr>
          <p:cNvPr id="7" name="TextBox 6"/>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E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What You Will Be Able to Do After Today</a:t>
            </a:r>
          </a:p>
        </p:txBody>
      </p:sp>
      <p:sp>
        <p:nvSpPr>
          <p:cNvPr id="3" name="Rectangle 2"/>
          <p:cNvSpPr/>
          <p:nvPr/>
        </p:nvSpPr>
        <p:spPr>
          <a:xfrm>
            <a:off x="306000" y="514800"/>
            <a:ext cx="450000" cy="2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Write a prompt that produces a first draft of a social media post in your brand voice</a:t>
            </a:r>
          </a:p>
          <a:p>
            <a:pPr>
              <a:spcAft>
                <a:spcPts val="700"/>
              </a:spcAft>
              <a:defRPr sz="1700">
                <a:solidFill>
                  <a:srgbClr val="0D006A"/>
                </a:solidFill>
                <a:latin typeface="Calibri"/>
              </a:defRPr>
            </a:pPr>
            <a:r>
              <a:t>Use AI to generate five campaign headline variations in under two minutes</a:t>
            </a:r>
          </a:p>
          <a:p>
            <a:pPr>
              <a:spcAft>
                <a:spcPts val="700"/>
              </a:spcAft>
              <a:defRPr sz="1700">
                <a:solidFill>
                  <a:srgbClr val="0D006A"/>
                </a:solidFill>
                <a:latin typeface="Calibri"/>
              </a:defRPr>
            </a:pPr>
            <a:r>
              <a:t>Give feedback to an AI output and refine it through follow-up prompts</a:t>
            </a:r>
          </a:p>
          <a:p>
            <a:pPr>
              <a:spcAft>
                <a:spcPts val="700"/>
              </a:spcAft>
              <a:defRPr sz="1700">
                <a:solidFill>
                  <a:srgbClr val="0D006A"/>
                </a:solidFill>
                <a:latin typeface="Calibri"/>
              </a:defRPr>
            </a:pPr>
            <a:r>
              <a:t>Avoid the three most common prompting mistakes that produce generic, unusable content</a:t>
            </a:r>
          </a:p>
          <a:p>
            <a:pPr>
              <a:spcAft>
                <a:spcPts val="700"/>
              </a:spcAft>
              <a:defRPr sz="1700">
                <a:solidFill>
                  <a:srgbClr val="0D006A"/>
                </a:solidFill>
                <a:latin typeface="Calibri"/>
              </a:defRPr>
            </a:pPr>
            <a:r>
              <a:t>Build a personal prompt template you can reuse every week</a:t>
            </a:r>
          </a:p>
        </p:txBody>
      </p:sp>
      <p:sp>
        <p:nvSpPr>
          <p:cNvPr id="5" name="Rectangle 4"/>
          <p:cNvSpPr/>
          <p:nvPr/>
        </p:nvSpPr>
        <p:spPr>
          <a:xfrm>
            <a:off x="0" y="2466000"/>
            <a:ext cx="4799880" cy="180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verx_Logo.png"/>
          <p:cNvPicPr>
            <a:picLocks noChangeAspect="1"/>
          </p:cNvPicPr>
          <p:nvPr/>
        </p:nvPicPr>
        <p:blipFill>
          <a:blip r:embed="rId2"/>
          <a:stretch>
            <a:fillRect/>
          </a:stretch>
        </p:blipFill>
        <p:spPr>
          <a:xfrm>
            <a:off x="198000" y="2527200"/>
            <a:ext cx="100543" cy="100800"/>
          </a:xfrm>
          <a:prstGeom prst="rect">
            <a:avLst/>
          </a:prstGeom>
        </p:spPr>
      </p:pic>
      <p:sp>
        <p:nvSpPr>
          <p:cNvPr id="7" name="TextBox 6"/>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DE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Energizer: The Instruction Game</a:t>
            </a:r>
          </a:p>
        </p:txBody>
      </p:sp>
      <p:sp>
        <p:nvSpPr>
          <p:cNvPr id="3" name="Rectangle 2"/>
          <p:cNvSpPr/>
          <p:nvPr/>
        </p:nvSpPr>
        <p:spPr>
          <a:xfrm>
            <a:off x="306000" y="514800"/>
            <a:ext cx="450000" cy="2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You have 90 seconds: write instructions for a colleague to make a perfect cup of coffee</a:t>
            </a:r>
          </a:p>
          <a:p>
            <a:pPr>
              <a:spcAft>
                <a:spcPts val="700"/>
              </a:spcAft>
              <a:defRPr sz="1700">
                <a:solidFill>
                  <a:srgbClr val="0D006A"/>
                </a:solidFill>
                <a:latin typeface="Calibri"/>
              </a:defRPr>
            </a:pPr>
            <a:r>
              <a:t>Your colleague must follow ONLY what you wrote — nothing more, nothing less</a:t>
            </a:r>
          </a:p>
          <a:p>
            <a:pPr>
              <a:spcAft>
                <a:spcPts val="700"/>
              </a:spcAft>
              <a:defRPr sz="1700">
                <a:solidFill>
                  <a:srgbClr val="0D006A"/>
                </a:solidFill>
                <a:latin typeface="Calibri"/>
              </a:defRPr>
            </a:pPr>
            <a:r>
              <a:t>We will read two examples aloud and see what happens</a:t>
            </a:r>
          </a:p>
        </p:txBody>
      </p:sp>
      <p:sp>
        <p:nvSpPr>
          <p:cNvPr id="5" name="Rectangle 4"/>
          <p:cNvSpPr/>
          <p:nvPr/>
        </p:nvSpPr>
        <p:spPr>
          <a:xfrm>
            <a:off x="0" y="2466000"/>
            <a:ext cx="4799880" cy="180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verx_Logo.png"/>
          <p:cNvPicPr>
            <a:picLocks noChangeAspect="1"/>
          </p:cNvPicPr>
          <p:nvPr/>
        </p:nvPicPr>
        <p:blipFill>
          <a:blip r:embed="rId2"/>
          <a:stretch>
            <a:fillRect/>
          </a:stretch>
        </p:blipFill>
        <p:spPr>
          <a:xfrm>
            <a:off x="198000" y="2527200"/>
            <a:ext cx="100543" cy="100800"/>
          </a:xfrm>
          <a:prstGeom prst="rect">
            <a:avLst/>
          </a:prstGeom>
        </p:spPr>
      </p:pic>
      <p:sp>
        <p:nvSpPr>
          <p:cNvPr id="7" name="TextBox 6"/>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DE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Agenda: Our Three Hours Together</a:t>
            </a:r>
          </a:p>
        </p:txBody>
      </p:sp>
      <p:sp>
        <p:nvSpPr>
          <p:cNvPr id="3" name="Rectangle 2"/>
          <p:cNvSpPr/>
          <p:nvPr/>
        </p:nvSpPr>
        <p:spPr>
          <a:xfrm>
            <a:off x="306000" y="514800"/>
            <a:ext cx="450000" cy="2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6000" y="737999"/>
            <a:ext cx="1872000" cy="1530000"/>
          </a:xfrm>
          <a:prstGeom prst="rect">
            <a:avLst/>
          </a:prstGeom>
          <a:noFill/>
        </p:spPr>
        <p:txBody>
          <a:bodyPr wrap="square">
            <a:normAutofit/>
          </a:bodyPr>
          <a:lstStyle/>
          <a:p>
            <a:pPr>
              <a:spcAft>
                <a:spcPts val="700"/>
              </a:spcAft>
              <a:defRPr sz="1800">
                <a:solidFill>
                  <a:srgbClr val="0D006A"/>
                </a:solidFill>
                <a:latin typeface="Calibri"/>
              </a:defRPr>
            </a:pPr>
            <a:r>
              <a:t>09:00 – 09:20 | Kick-off: goals, energizer, agenda</a:t>
            </a:r>
          </a:p>
          <a:p>
            <a:pPr>
              <a:spcAft>
                <a:spcPts val="700"/>
              </a:spcAft>
              <a:defRPr sz="1800">
                <a:solidFill>
                  <a:srgbClr val="0D006A"/>
                </a:solidFill>
                <a:latin typeface="Calibri"/>
              </a:defRPr>
            </a:pPr>
            <a:r>
              <a:t>09:20 – 10:20 | Theory: how prompting works and the CRAFT framework</a:t>
            </a:r>
          </a:p>
          <a:p>
            <a:pPr>
              <a:spcAft>
                <a:spcPts val="700"/>
              </a:spcAft>
              <a:defRPr sz="1800">
                <a:solidFill>
                  <a:srgbClr val="0D006A"/>
                </a:solidFill>
                <a:latin typeface="Calibri"/>
              </a:defRPr>
            </a:pPr>
            <a:r>
              <a:t>10:20 – 10:35 | Break</a:t>
            </a:r>
          </a:p>
        </p:txBody>
      </p:sp>
      <p:sp>
        <p:nvSpPr>
          <p:cNvPr id="5" name="TextBox 4"/>
          <p:cNvSpPr txBox="1"/>
          <p:nvPr/>
        </p:nvSpPr>
        <p:spPr>
          <a:xfrm>
            <a:off x="2520000" y="737999"/>
            <a:ext cx="1800000" cy="1530000"/>
          </a:xfrm>
          <a:prstGeom prst="rect">
            <a:avLst/>
          </a:prstGeom>
          <a:noFill/>
        </p:spPr>
        <p:txBody>
          <a:bodyPr wrap="square">
            <a:normAutofit/>
          </a:bodyPr>
          <a:lstStyle/>
          <a:p>
            <a:pPr>
              <a:spcAft>
                <a:spcPts val="700"/>
              </a:spcAft>
              <a:defRPr sz="1800">
                <a:solidFill>
                  <a:srgbClr val="0D006A"/>
                </a:solidFill>
                <a:latin typeface="Calibri"/>
              </a:defRPr>
            </a:pPr>
            <a:r>
              <a:t>10:35 – 11:05 | Example: live prompting for a real campaign brief</a:t>
            </a:r>
          </a:p>
          <a:p>
            <a:pPr>
              <a:spcAft>
                <a:spcPts val="700"/>
              </a:spcAft>
              <a:defRPr sz="1800">
                <a:solidFill>
                  <a:srgbClr val="0D006A"/>
                </a:solidFill>
                <a:latin typeface="Calibri"/>
              </a:defRPr>
            </a:pPr>
            <a:r>
              <a:t>11:05 – 11:50 | Exercise: write and refine your own marketing prompts</a:t>
            </a:r>
          </a:p>
          <a:p>
            <a:pPr>
              <a:spcAft>
                <a:spcPts val="700"/>
              </a:spcAft>
              <a:defRPr sz="1800">
                <a:solidFill>
                  <a:srgbClr val="0D006A"/>
                </a:solidFill>
                <a:latin typeface="Calibri"/>
              </a:defRPr>
            </a:pPr>
            <a:r>
              <a:t>11:50 – 12:00 | Wrap-up: takeaways, your prompt template, next steps</a:t>
            </a:r>
          </a:p>
        </p:txBody>
      </p:sp>
      <p:sp>
        <p:nvSpPr>
          <p:cNvPr id="6" name="Rectangle 5"/>
          <p:cNvSpPr/>
          <p:nvPr/>
        </p:nvSpPr>
        <p:spPr>
          <a:xfrm>
            <a:off x="0" y="2466000"/>
            <a:ext cx="4799880" cy="180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verx_Logo.png"/>
          <p:cNvPicPr>
            <a:picLocks noChangeAspect="1"/>
          </p:cNvPicPr>
          <p:nvPr/>
        </p:nvPicPr>
        <p:blipFill>
          <a:blip r:embed="rId2"/>
          <a:stretch>
            <a:fillRect/>
          </a:stretch>
        </p:blipFill>
        <p:spPr>
          <a:xfrm>
            <a:off x="198000" y="2527200"/>
            <a:ext cx="100543" cy="100800"/>
          </a:xfrm>
          <a:prstGeom prst="rect">
            <a:avLst/>
          </a:prstGeom>
        </p:spPr>
      </p:pic>
      <p:sp>
        <p:nvSpPr>
          <p:cNvPr id="8" name="TextBox 7"/>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What Is a Prompt — And Why Does It Matter?</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A prompt is the instruction you give to an AI tool like ChatGPT, Gemini, or Copilot</a:t>
            </a:r>
          </a:p>
          <a:p>
            <a:pPr>
              <a:spcAft>
                <a:spcPts val="700"/>
              </a:spcAft>
              <a:defRPr sz="1700">
                <a:solidFill>
                  <a:srgbClr val="0D006A"/>
                </a:solidFill>
                <a:latin typeface="Calibri"/>
              </a:defRPr>
            </a:pPr>
            <a:r>
              <a:t>The AI has no memory, no context, and no goals — it only responds to what you write</a:t>
            </a:r>
          </a:p>
          <a:p>
            <a:pPr>
              <a:spcAft>
                <a:spcPts val="700"/>
              </a:spcAft>
              <a:defRPr sz="1700">
                <a:solidFill>
                  <a:srgbClr val="0D006A"/>
                </a:solidFill>
                <a:latin typeface="Calibri"/>
              </a:defRPr>
            </a:pPr>
            <a:r>
              <a:t>A weak prompt gives you a generic response you cannot use; a strong prompt gives you a draft you can edit</a:t>
            </a:r>
          </a:p>
          <a:p>
            <a:pPr>
              <a:spcAft>
                <a:spcPts val="700"/>
              </a:spcAft>
              <a:defRPr sz="1700">
                <a:solidFill>
                  <a:srgbClr val="0D006A"/>
                </a:solidFill>
                <a:latin typeface="Calibri"/>
              </a:defRPr>
            </a:pPr>
            <a:r>
              <a:t>Think of the AI as a very fast, very literal junior copywriter who needs exact briefing</a:t>
            </a:r>
          </a:p>
          <a:p>
            <a:pPr>
              <a:spcAft>
                <a:spcPts val="700"/>
              </a:spcAft>
              <a:defRPr sz="1700">
                <a:solidFill>
                  <a:srgbClr val="0D006A"/>
                </a:solidFill>
                <a:latin typeface="Calibri"/>
              </a:defRPr>
            </a:pPr>
            <a:r>
              <a:t>Your prompting skill determines the quality of the output — not the AI's intelligence</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Your prompting skill determines the quality of the output — not the AI's intelligence</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How AI Language Models Actually Work (Simply Put)</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AI models are trained on vast amounts of text and learn patterns in language</a:t>
            </a:r>
          </a:p>
          <a:p>
            <a:pPr>
              <a:spcAft>
                <a:spcPts val="700"/>
              </a:spcAft>
              <a:defRPr sz="1700">
                <a:solidFill>
                  <a:srgbClr val="0D006A"/>
                </a:solidFill>
                <a:latin typeface="Calibri"/>
              </a:defRPr>
            </a:pPr>
            <a:r>
              <a:t>They predict the most likely next word based on your input — they do not 'think' or 'understand'</a:t>
            </a:r>
          </a:p>
          <a:p>
            <a:pPr>
              <a:spcAft>
                <a:spcPts val="700"/>
              </a:spcAft>
              <a:defRPr sz="1700">
                <a:solidFill>
                  <a:srgbClr val="0D006A"/>
                </a:solidFill>
                <a:latin typeface="Calibri"/>
              </a:defRPr>
            </a:pPr>
            <a:r>
              <a:t>This means the AI will always produce something plausible-sounding, even if it is wrong or generic</a:t>
            </a:r>
          </a:p>
          <a:p>
            <a:pPr>
              <a:spcAft>
                <a:spcPts val="700"/>
              </a:spcAft>
              <a:defRPr sz="1700">
                <a:solidFill>
                  <a:srgbClr val="0D006A"/>
                </a:solidFill>
                <a:latin typeface="Calibri"/>
              </a:defRPr>
            </a:pPr>
            <a:r>
              <a:t>The more context and specificity you give, the more the AI can narrow its prediction to what you actually need</a:t>
            </a:r>
          </a:p>
          <a:p>
            <a:pPr>
              <a:spcAft>
                <a:spcPts val="700"/>
              </a:spcAft>
              <a:defRPr sz="1700">
                <a:solidFill>
                  <a:srgbClr val="0D006A"/>
                </a:solidFill>
                <a:latin typeface="Calibri"/>
              </a:defRPr>
            </a:pPr>
            <a:r>
              <a:t>You are not searching for information — you are steering a prediction engine</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You are not searching for information — you are steering a prediction engine</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The CRAFT Framework: Your Prompting Formula</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C — Context: who are you, what is the situation, what is the brand?</a:t>
            </a:r>
          </a:p>
          <a:p>
            <a:pPr>
              <a:spcAft>
                <a:spcPts val="700"/>
              </a:spcAft>
              <a:defRPr sz="1700">
                <a:solidFill>
                  <a:srgbClr val="0D006A"/>
                </a:solidFill>
                <a:latin typeface="Calibri"/>
              </a:defRPr>
            </a:pPr>
            <a:r>
              <a:t>R — Role: tell the AI what role to play (e.g. 'Act as a senior B2B copywriter')</a:t>
            </a:r>
          </a:p>
          <a:p>
            <a:pPr>
              <a:spcAft>
                <a:spcPts val="700"/>
              </a:spcAft>
              <a:defRPr sz="1700">
                <a:solidFill>
                  <a:srgbClr val="0D006A"/>
                </a:solidFill>
                <a:latin typeface="Calibri"/>
              </a:defRPr>
            </a:pPr>
            <a:r>
              <a:t>A — Action: state exactly what you want the AI to produce</a:t>
            </a:r>
          </a:p>
          <a:p>
            <a:pPr>
              <a:spcAft>
                <a:spcPts val="700"/>
              </a:spcAft>
              <a:defRPr sz="1700">
                <a:solidFill>
                  <a:srgbClr val="0D006A"/>
                </a:solidFill>
                <a:latin typeface="Calibri"/>
              </a:defRPr>
            </a:pPr>
            <a:r>
              <a:t>F — Format: specify length, structure, tone, bullet points or paragraphs</a:t>
            </a:r>
          </a:p>
          <a:p>
            <a:pPr>
              <a:spcAft>
                <a:spcPts val="700"/>
              </a:spcAft>
              <a:defRPr sz="1700">
                <a:solidFill>
                  <a:srgbClr val="0D006A"/>
                </a:solidFill>
                <a:latin typeface="Calibri"/>
              </a:defRPr>
            </a:pPr>
            <a:r>
              <a:t>T — Target: describe your audience — who will read this content?</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T — Target: describe your audience — who will read this content?</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Breaking Down CRAFT: What Each Element Looks Like</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Context: 'We are a Dutch sustainable fashion brand targeting urban women aged 25–40. Our tone is bold, warm, and never corporate.'</a:t>
            </a:r>
          </a:p>
          <a:p>
            <a:pPr>
              <a:spcAft>
                <a:spcPts val="700"/>
              </a:spcAft>
              <a:defRPr sz="1700">
                <a:solidFill>
                  <a:srgbClr val="0D006A"/>
                </a:solidFill>
                <a:latin typeface="Calibri"/>
              </a:defRPr>
            </a:pPr>
            <a:r>
              <a:t>Role: 'Act as an experienced Instagram copywriter who specializes in lifestyle brands.'</a:t>
            </a:r>
          </a:p>
          <a:p>
            <a:pPr>
              <a:spcAft>
                <a:spcPts val="700"/>
              </a:spcAft>
              <a:defRPr sz="1700">
                <a:solidFill>
                  <a:srgbClr val="0D006A"/>
                </a:solidFill>
                <a:latin typeface="Calibri"/>
              </a:defRPr>
            </a:pPr>
            <a:r>
              <a:t>Action: 'Write three Instagram captions for a new summer collection launch.'</a:t>
            </a:r>
          </a:p>
          <a:p>
            <a:pPr>
              <a:spcAft>
                <a:spcPts val="700"/>
              </a:spcAft>
              <a:defRPr sz="1700">
                <a:solidFill>
                  <a:srgbClr val="0D006A"/>
                </a:solidFill>
                <a:latin typeface="Calibri"/>
              </a:defRPr>
            </a:pPr>
            <a:r>
              <a:t>Format: 'Each caption should be max 150 characters, include one emoji, and end with a call to action.'</a:t>
            </a:r>
          </a:p>
          <a:p>
            <a:pPr>
              <a:spcAft>
                <a:spcPts val="700"/>
              </a:spcAft>
              <a:defRPr sz="1700">
                <a:solidFill>
                  <a:srgbClr val="0D006A"/>
                </a:solidFill>
                <a:latin typeface="Calibri"/>
              </a:defRPr>
            </a:pPr>
            <a:r>
              <a:t>Target: 'Our audience values sustainability and aesthetics equally — they follow brands like Patagonia and COS.'</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Target: 'Our audience values sustainability and aesthetics equally — they follow brands like Patagonia and COS.'</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The Three Most Common Prompting Mistakes Marketers Make</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Mistake 1 — Too vague: 'Write a newsletter' gives the AI nothing to work with; always specify topic, audience, length, and goal</a:t>
            </a:r>
          </a:p>
          <a:p>
            <a:pPr>
              <a:spcAft>
                <a:spcPts val="700"/>
              </a:spcAft>
              <a:defRPr sz="1700">
                <a:solidFill>
                  <a:srgbClr val="0D006A"/>
                </a:solidFill>
                <a:latin typeface="Calibri"/>
              </a:defRPr>
            </a:pPr>
            <a:r>
              <a:t>Mistake 2 — No brand voice: without tone guidance the AI defaults to generic corporate language that sounds like no one</a:t>
            </a:r>
          </a:p>
          <a:p>
            <a:pPr>
              <a:spcAft>
                <a:spcPts val="700"/>
              </a:spcAft>
              <a:defRPr sz="1700">
                <a:solidFill>
                  <a:srgbClr val="0D006A"/>
                </a:solidFill>
                <a:latin typeface="Calibri"/>
              </a:defRPr>
            </a:pPr>
            <a:r>
              <a:t>Mistake 3 — Accepting the first output: AI first drafts are starting points, not finished products — always refine with follow-up prompts</a:t>
            </a:r>
          </a:p>
          <a:p>
            <a:pPr>
              <a:spcAft>
                <a:spcPts val="700"/>
              </a:spcAft>
              <a:defRPr sz="1700">
                <a:solidFill>
                  <a:srgbClr val="0D006A"/>
                </a:solidFill>
                <a:latin typeface="Calibri"/>
              </a:defRPr>
            </a:pPr>
            <a:r>
              <a:t>Bonus mistake: Asking for too many things at once — one clear task per prompt produces better results than five combined</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Bonus mistake: Asking for too many things at once — one clear task per prompt produces better results than five combined</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Iteration: The Skill That Multiplies Your Results</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Prompting is a conversation, not a one-shot command — expect to send 2 to 4 follow-up messages</a:t>
            </a:r>
          </a:p>
          <a:p>
            <a:pPr>
              <a:spcAft>
                <a:spcPts val="700"/>
              </a:spcAft>
              <a:defRPr sz="1700">
                <a:solidFill>
                  <a:srgbClr val="0D006A"/>
                </a:solidFill>
                <a:latin typeface="Calibri"/>
              </a:defRPr>
            </a:pPr>
            <a:r>
              <a:t>If the tone is off: 'Make this warmer and less formal — it currently sounds like a press release'</a:t>
            </a:r>
          </a:p>
          <a:p>
            <a:pPr>
              <a:spcAft>
                <a:spcPts val="700"/>
              </a:spcAft>
              <a:defRPr sz="1700">
                <a:solidFill>
                  <a:srgbClr val="0D006A"/>
                </a:solidFill>
                <a:latin typeface="Calibri"/>
              </a:defRPr>
            </a:pPr>
            <a:r>
              <a:t>If the length is wrong: 'Shorten this to three sentences without losing the main benefit'</a:t>
            </a:r>
          </a:p>
          <a:p>
            <a:pPr>
              <a:spcAft>
                <a:spcPts val="700"/>
              </a:spcAft>
              <a:defRPr sz="1700">
                <a:solidFill>
                  <a:srgbClr val="0D006A"/>
                </a:solidFill>
                <a:latin typeface="Calibri"/>
              </a:defRPr>
            </a:pPr>
            <a:r>
              <a:t>If the angle is missing: 'Rewrite this focusing on the sustainability angle, not the design'</a:t>
            </a:r>
          </a:p>
          <a:p>
            <a:pPr>
              <a:spcAft>
                <a:spcPts val="700"/>
              </a:spcAft>
              <a:defRPr sz="1700">
                <a:solidFill>
                  <a:srgbClr val="0D006A"/>
                </a:solidFill>
                <a:latin typeface="Calibri"/>
              </a:defRPr>
            </a:pPr>
            <a:r>
              <a:t>Save prompts that work well — build a personal library of your best prompts over time</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Save prompts that work well — build a personal library of your best prompts over time</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A Note on AI Ethics and Brand Safety</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Never enter sensitive client data, personal data, or confidential campaign budgets into public AI tools</a:t>
            </a:r>
          </a:p>
          <a:p>
            <a:pPr>
              <a:spcAft>
                <a:spcPts val="700"/>
              </a:spcAft>
              <a:defRPr sz="1700">
                <a:solidFill>
                  <a:srgbClr val="0D006A"/>
                </a:solidFill>
                <a:latin typeface="Calibri"/>
              </a:defRPr>
            </a:pPr>
            <a:r>
              <a:t>Always fact-check AI outputs — AI confidently generates plausible but incorrect statistics and dates</a:t>
            </a:r>
          </a:p>
          <a:p>
            <a:pPr>
              <a:spcAft>
                <a:spcPts val="700"/>
              </a:spcAft>
              <a:defRPr sz="1700">
                <a:solidFill>
                  <a:srgbClr val="0D006A"/>
                </a:solidFill>
                <a:latin typeface="Calibri"/>
              </a:defRPr>
            </a:pPr>
            <a:r>
              <a:t>AI-generated content must be reviewed and edited by a human before publication — you are responsible</a:t>
            </a:r>
          </a:p>
          <a:p>
            <a:pPr>
              <a:spcAft>
                <a:spcPts val="700"/>
              </a:spcAft>
              <a:defRPr sz="1700">
                <a:solidFill>
                  <a:srgbClr val="0D006A"/>
                </a:solidFill>
                <a:latin typeface="Calibri"/>
              </a:defRPr>
            </a:pPr>
            <a:r>
              <a:t>Check your company's policy on approved AI tools before using new platforms</a:t>
            </a:r>
          </a:p>
          <a:p>
            <a:pPr>
              <a:spcAft>
                <a:spcPts val="700"/>
              </a:spcAft>
              <a:defRPr sz="1700">
                <a:solidFill>
                  <a:srgbClr val="0D006A"/>
                </a:solidFill>
                <a:latin typeface="Calibri"/>
              </a:defRPr>
            </a:pPr>
            <a:r>
              <a:t>Disclose AI involvement in content creation where required by platform guidelines or client agreements</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Disclose AI involvement in content creation where required by platform guidelines or client agreements</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Live Example: Campaign Brief for a Product Launch</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Situation: a Dutch health food brand is launching a new oat-based protein bar targeting busy young professionals</a:t>
            </a:r>
          </a:p>
          <a:p>
            <a:pPr>
              <a:spcAft>
                <a:spcPts val="700"/>
              </a:spcAft>
              <a:defRPr sz="1700">
                <a:solidFill>
                  <a:srgbClr val="0D006A"/>
                </a:solidFill>
                <a:latin typeface="Calibri"/>
              </a:defRPr>
            </a:pPr>
            <a:r>
              <a:t>The brief asks for: 3 LinkedIn post options, 1 email subject line variant list (5 options), and a short product description for the website</a:t>
            </a:r>
          </a:p>
          <a:p>
            <a:pPr>
              <a:spcAft>
                <a:spcPts val="700"/>
              </a:spcAft>
              <a:defRPr sz="1700">
                <a:solidFill>
                  <a:srgbClr val="0D006A"/>
                </a:solidFill>
                <a:latin typeface="Calibri"/>
              </a:defRPr>
            </a:pPr>
            <a:r>
              <a:t>We will build one CRAFT prompt that handles the LinkedIn posts — step by step, live</a:t>
            </a:r>
          </a:p>
          <a:p>
            <a:pPr>
              <a:spcAft>
                <a:spcPts val="700"/>
              </a:spcAft>
              <a:defRPr sz="1700">
                <a:solidFill>
                  <a:srgbClr val="0D006A"/>
                </a:solidFill>
                <a:latin typeface="Calibri"/>
              </a:defRPr>
            </a:pPr>
            <a:r>
              <a:t>Then we will show how two follow-up prompts transform the first output into something usable</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Then we will show how two follow-up prompts transform the first output into something usable</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7F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Building the CRAFT Prompt — Live</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C: 'We are a Dutch health food brand called VitalOat. Our tone is energetic, science-backed, and friendly — never preachy.'</a:t>
            </a:r>
          </a:p>
          <a:p>
            <a:pPr>
              <a:spcAft>
                <a:spcPts val="700"/>
              </a:spcAft>
              <a:defRPr sz="1700">
                <a:solidFill>
                  <a:srgbClr val="0D006A"/>
                </a:solidFill>
                <a:latin typeface="Calibri"/>
              </a:defRPr>
            </a:pPr>
            <a:r>
              <a:t>R: 'Act as a LinkedIn content strategist with experience in the food and wellness industry.'</a:t>
            </a:r>
          </a:p>
          <a:p>
            <a:pPr>
              <a:spcAft>
                <a:spcPts val="700"/>
              </a:spcAft>
              <a:defRPr sz="1700">
                <a:solidFill>
                  <a:srgbClr val="0D006A"/>
                </a:solidFill>
                <a:latin typeface="Calibri"/>
              </a:defRPr>
            </a:pPr>
            <a:r>
              <a:t>A: 'Write 3 LinkedIn posts announcing the launch of our new oat protein bar.'</a:t>
            </a:r>
          </a:p>
          <a:p>
            <a:pPr>
              <a:spcAft>
                <a:spcPts val="700"/>
              </a:spcAft>
              <a:defRPr sz="1700">
                <a:solidFill>
                  <a:srgbClr val="0D006A"/>
                </a:solidFill>
                <a:latin typeface="Calibri"/>
              </a:defRPr>
            </a:pPr>
            <a:r>
              <a:t>F: 'Each post should be 80–120 words, start with a hook, include one specific product benefit, and end with a question to drive engagement.'</a:t>
            </a:r>
          </a:p>
          <a:p>
            <a:pPr>
              <a:spcAft>
                <a:spcPts val="700"/>
              </a:spcAft>
              <a:defRPr sz="1700">
                <a:solidFill>
                  <a:srgbClr val="0D006A"/>
                </a:solidFill>
                <a:latin typeface="Calibri"/>
              </a:defRPr>
            </a:pPr>
            <a:r>
              <a:t>T: 'Our audience is professionals aged 25–35 in the Netherlands who care about nutrition but have little time to cook.'</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T: 'Our audience is professionals aged 25–35 in the Netherlands who care about nutrition but have little time to cook.'</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7F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Iteration in Action: Two Follow-Up Prompts</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666000"/>
            <a:ext cx="1890000" cy="1422000"/>
          </a:xfrm>
          <a:prstGeom prst="rect">
            <a:avLst/>
          </a:prstGeom>
          <a:noFill/>
        </p:spPr>
        <p:txBody>
          <a:bodyPr wrap="square">
            <a:normAutofit/>
          </a:bodyPr>
          <a:lstStyle/>
          <a:p>
            <a:pPr>
              <a:spcAft>
                <a:spcPts val="700"/>
              </a:spcAft>
              <a:defRPr sz="1500">
                <a:solidFill>
                  <a:srgbClr val="0D006A"/>
                </a:solidFill>
                <a:latin typeface="Calibri"/>
              </a:defRPr>
            </a:pPr>
            <a:r>
              <a:t>Follow-up 1 — Adjusting tone: 'The second post is too formal. Rewrite it with a more conversational, almost casual tone — as if a colleague is recommending it to a friend.'</a:t>
            </a:r>
          </a:p>
          <a:p>
            <a:pPr>
              <a:spcAft>
                <a:spcPts val="700"/>
              </a:spcAft>
              <a:defRPr sz="1500">
                <a:solidFill>
                  <a:srgbClr val="0D006A"/>
                </a:solidFill>
                <a:latin typeface="Calibri"/>
              </a:defRPr>
            </a:pPr>
            <a:r>
              <a:t>Follow-up 2 — Sharpening the hook: 'The opening lines of all three posts are weak. Rewrite only the first sentence of each to be more provocative or surprising — something that stops a scroller.'</a:t>
            </a:r>
          </a:p>
        </p:txBody>
      </p:sp>
      <p:sp>
        <p:nvSpPr>
          <p:cNvPr id="5" name="TextBox 4"/>
          <p:cNvSpPr txBox="1"/>
          <p:nvPr/>
        </p:nvSpPr>
        <p:spPr>
          <a:xfrm>
            <a:off x="2502000" y="666000"/>
            <a:ext cx="1890000" cy="1422000"/>
          </a:xfrm>
          <a:prstGeom prst="rect">
            <a:avLst/>
          </a:prstGeom>
          <a:noFill/>
        </p:spPr>
        <p:txBody>
          <a:bodyPr wrap="square">
            <a:normAutofit/>
          </a:bodyPr>
          <a:lstStyle/>
          <a:p>
            <a:pPr>
              <a:spcAft>
                <a:spcPts val="700"/>
              </a:spcAft>
              <a:defRPr sz="1500">
                <a:solidFill>
                  <a:srgbClr val="0D006A"/>
                </a:solidFill>
                <a:latin typeface="Calibri"/>
              </a:defRPr>
            </a:pPr>
            <a:r>
              <a:t>Result: in under 5 minutes we went from a brief to three near-publishable LinkedIn posts</a:t>
            </a:r>
          </a:p>
          <a:p>
            <a:pPr>
              <a:spcAft>
                <a:spcPts val="700"/>
              </a:spcAft>
              <a:defRPr sz="1500">
                <a:solidFill>
                  <a:srgbClr val="0D006A"/>
                </a:solidFill>
                <a:latin typeface="Calibri"/>
              </a:defRPr>
            </a:pPr>
            <a:r>
              <a:t>Total prompt count: 3. Total time: approximately 4 minutes of writing, 1 minute of AI generation</a:t>
            </a:r>
          </a:p>
        </p:txBody>
      </p:sp>
      <p:sp>
        <p:nvSpPr>
          <p:cNvPr id="6" name="Rectangle 5"/>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Total prompt count: 3. Total time: approximately 4 minutes of writing, 1 minute of AI generation</a:t>
            </a:r>
          </a:p>
        </p:txBody>
      </p:sp>
      <p:sp>
        <p:nvSpPr>
          <p:cNvPr id="8" name="Rectangle 7"/>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verx_Logo.png"/>
          <p:cNvPicPr>
            <a:picLocks noChangeAspect="1"/>
          </p:cNvPicPr>
          <p:nvPr/>
        </p:nvPicPr>
        <p:blipFill>
          <a:blip r:embed="rId2"/>
          <a:stretch>
            <a:fillRect/>
          </a:stretch>
        </p:blipFill>
        <p:spPr>
          <a:xfrm>
            <a:off x="198000" y="2527200"/>
            <a:ext cx="100543" cy="100800"/>
          </a:xfrm>
          <a:prstGeom prst="rect">
            <a:avLst/>
          </a:prstGeom>
        </p:spPr>
      </p:pic>
      <p:sp>
        <p:nvSpPr>
          <p:cNvPr id="10" name="TextBox 9"/>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7F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What We Just Did — Mapping It Back to CRAFT</a:t>
            </a:r>
          </a:p>
        </p:txBody>
      </p:sp>
      <p:sp>
        <p:nvSpPr>
          <p:cNvPr id="3" name="Rectangle 2"/>
          <p:cNvSpPr/>
          <p:nvPr/>
        </p:nvSpPr>
        <p:spPr>
          <a:xfrm>
            <a:off x="306000" y="514800"/>
            <a:ext cx="450000" cy="2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We started with a full CRAFT prompt — Context, Role, Action, Format, Target all present</a:t>
            </a:r>
          </a:p>
          <a:p>
            <a:pPr>
              <a:spcAft>
                <a:spcPts val="700"/>
              </a:spcAft>
              <a:defRPr sz="1700">
                <a:solidFill>
                  <a:srgbClr val="0D006A"/>
                </a:solidFill>
                <a:latin typeface="Calibri"/>
              </a:defRPr>
            </a:pPr>
            <a:r>
              <a:t>The first output was usable but not great — this is normal and expected</a:t>
            </a:r>
          </a:p>
          <a:p>
            <a:pPr>
              <a:spcAft>
                <a:spcPts val="700"/>
              </a:spcAft>
              <a:defRPr sz="1700">
                <a:solidFill>
                  <a:srgbClr val="0D006A"/>
                </a:solidFill>
                <a:latin typeface="Calibri"/>
              </a:defRPr>
            </a:pPr>
            <a:r>
              <a:t>Follow-up prompt 1 targeted the tone (Format + Context refinement)</a:t>
            </a:r>
          </a:p>
          <a:p>
            <a:pPr>
              <a:spcAft>
                <a:spcPts val="700"/>
              </a:spcAft>
              <a:defRPr sz="1700">
                <a:solidFill>
                  <a:srgbClr val="0D006A"/>
                </a:solidFill>
                <a:latin typeface="Calibri"/>
              </a:defRPr>
            </a:pPr>
            <a:r>
              <a:t>Follow-up prompt 2 targeted a specific structural element (Action refinement)</a:t>
            </a:r>
          </a:p>
          <a:p>
            <a:pPr>
              <a:spcAft>
                <a:spcPts val="700"/>
              </a:spcAft>
              <a:defRPr sz="1700">
                <a:solidFill>
                  <a:srgbClr val="0D006A"/>
                </a:solidFill>
                <a:latin typeface="Calibri"/>
              </a:defRPr>
            </a:pPr>
            <a:r>
              <a:t>The final output required only minor human editing before it could be scheduled</a:t>
            </a:r>
          </a:p>
        </p:txBody>
      </p:sp>
      <p:sp>
        <p:nvSpPr>
          <p:cNvPr id="5" name="Rectangle 4"/>
          <p:cNvSpPr/>
          <p:nvPr/>
        </p:nvSpPr>
        <p:spPr>
          <a:xfrm>
            <a:off x="306000" y="2232000"/>
            <a:ext cx="4194000" cy="2088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The final output required only minor human editing before it could be scheduled</a:t>
            </a:r>
          </a:p>
        </p:txBody>
      </p:sp>
      <p:sp>
        <p:nvSpPr>
          <p:cNvPr id="7" name="Rectangle 6"/>
          <p:cNvSpPr/>
          <p:nvPr/>
        </p:nvSpPr>
        <p:spPr>
          <a:xfrm>
            <a:off x="0" y="2466000"/>
            <a:ext cx="4799880" cy="18000"/>
          </a:xfrm>
          <a:prstGeom prst="rect">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DEBDB"/>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Exercise Overview: Your Own Marketing Prompt</a:t>
            </a:r>
          </a:p>
        </p:txBody>
      </p:sp>
      <p:sp>
        <p:nvSpPr>
          <p:cNvPr id="3" name="Rectangle 2"/>
          <p:cNvSpPr/>
          <p:nvPr/>
        </p:nvSpPr>
        <p:spPr>
          <a:xfrm>
            <a:off x="306000" y="514800"/>
            <a:ext cx="450000" cy="2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8000" y="630000"/>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8000" y="648000"/>
            <a:ext cx="208800" cy="125999"/>
          </a:xfrm>
          <a:prstGeom prst="rect">
            <a:avLst/>
          </a:prstGeom>
          <a:noFill/>
        </p:spPr>
        <p:txBody>
          <a:bodyPr wrap="square">
            <a:normAutofit/>
          </a:bodyPr>
          <a:lstStyle/>
          <a:p>
            <a:pPr algn="ctr">
              <a:defRPr sz="1200" b="1">
                <a:solidFill>
                  <a:srgbClr val="F2F2F2"/>
                </a:solidFill>
                <a:latin typeface="Calibri"/>
              </a:defRPr>
            </a:pPr>
            <a:r>
              <a:t>1</a:t>
            </a:r>
          </a:p>
        </p:txBody>
      </p:sp>
      <p:sp>
        <p:nvSpPr>
          <p:cNvPr id="6" name="TextBox 5"/>
          <p:cNvSpPr txBox="1"/>
          <p:nvPr/>
        </p:nvSpPr>
        <p:spPr>
          <a:xfrm>
            <a:off x="684000" y="622800"/>
            <a:ext cx="3671999" cy="223200"/>
          </a:xfrm>
          <a:prstGeom prst="rect">
            <a:avLst/>
          </a:prstGeom>
          <a:noFill/>
        </p:spPr>
        <p:txBody>
          <a:bodyPr wrap="square">
            <a:normAutofit/>
          </a:bodyPr>
          <a:lstStyle/>
          <a:p>
            <a:pPr>
              <a:defRPr sz="1500" b="0">
                <a:solidFill>
                  <a:srgbClr val="0D006A"/>
                </a:solidFill>
                <a:latin typeface="Calibri"/>
              </a:defRPr>
            </a:pPr>
            <a:r>
              <a:t>Duration: 35 minutes total — 20 minutes individual work, 15 minutes pair review and group share</a:t>
            </a:r>
          </a:p>
        </p:txBody>
      </p:sp>
      <p:sp>
        <p:nvSpPr>
          <p:cNvPr id="7" name="Rectangle 6"/>
          <p:cNvSpPr/>
          <p:nvPr/>
        </p:nvSpPr>
        <p:spPr>
          <a:xfrm>
            <a:off x="378000" y="8891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8000" y="907199"/>
            <a:ext cx="208800" cy="125999"/>
          </a:xfrm>
          <a:prstGeom prst="rect">
            <a:avLst/>
          </a:prstGeom>
          <a:noFill/>
        </p:spPr>
        <p:txBody>
          <a:bodyPr wrap="square">
            <a:normAutofit/>
          </a:bodyPr>
          <a:lstStyle/>
          <a:p>
            <a:pPr algn="ctr">
              <a:defRPr sz="1200" b="1">
                <a:solidFill>
                  <a:srgbClr val="F2F2F2"/>
                </a:solidFill>
                <a:latin typeface="Calibri"/>
              </a:defRPr>
            </a:pPr>
            <a:r>
              <a:t>2</a:t>
            </a:r>
          </a:p>
        </p:txBody>
      </p:sp>
      <p:sp>
        <p:nvSpPr>
          <p:cNvPr id="9" name="TextBox 8"/>
          <p:cNvSpPr txBox="1"/>
          <p:nvPr/>
        </p:nvSpPr>
        <p:spPr>
          <a:xfrm>
            <a:off x="684000" y="881999"/>
            <a:ext cx="3671999" cy="223200"/>
          </a:xfrm>
          <a:prstGeom prst="rect">
            <a:avLst/>
          </a:prstGeom>
          <a:noFill/>
        </p:spPr>
        <p:txBody>
          <a:bodyPr wrap="square">
            <a:normAutofit/>
          </a:bodyPr>
          <a:lstStyle/>
          <a:p>
            <a:pPr>
              <a:defRPr sz="1500" b="0">
                <a:solidFill>
                  <a:srgbClr val="0D006A"/>
                </a:solidFill>
                <a:latin typeface="Calibri"/>
              </a:defRPr>
            </a:pPr>
            <a:r>
              <a:t>Step 1: Choose one real marketing task from your current work (social post, email subject line, ad copy, blog intro, product description)</a:t>
            </a:r>
          </a:p>
        </p:txBody>
      </p:sp>
      <p:sp>
        <p:nvSpPr>
          <p:cNvPr id="10" name="Rectangle 9"/>
          <p:cNvSpPr/>
          <p:nvPr/>
        </p:nvSpPr>
        <p:spPr>
          <a:xfrm>
            <a:off x="378000" y="11483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8000" y="1166399"/>
            <a:ext cx="208800" cy="125999"/>
          </a:xfrm>
          <a:prstGeom prst="rect">
            <a:avLst/>
          </a:prstGeom>
          <a:noFill/>
        </p:spPr>
        <p:txBody>
          <a:bodyPr wrap="square">
            <a:normAutofit/>
          </a:bodyPr>
          <a:lstStyle/>
          <a:p>
            <a:pPr algn="ctr">
              <a:defRPr sz="1200" b="1">
                <a:solidFill>
                  <a:srgbClr val="F2F2F2"/>
                </a:solidFill>
                <a:latin typeface="Calibri"/>
              </a:defRPr>
            </a:pPr>
            <a:r>
              <a:t>3</a:t>
            </a:r>
          </a:p>
        </p:txBody>
      </p:sp>
      <p:sp>
        <p:nvSpPr>
          <p:cNvPr id="12" name="TextBox 11"/>
          <p:cNvSpPr txBox="1"/>
          <p:nvPr/>
        </p:nvSpPr>
        <p:spPr>
          <a:xfrm>
            <a:off x="684000" y="1141199"/>
            <a:ext cx="3671999" cy="223200"/>
          </a:xfrm>
          <a:prstGeom prst="rect">
            <a:avLst/>
          </a:prstGeom>
          <a:noFill/>
        </p:spPr>
        <p:txBody>
          <a:bodyPr wrap="square">
            <a:normAutofit/>
          </a:bodyPr>
          <a:lstStyle/>
          <a:p>
            <a:pPr>
              <a:defRPr sz="1500" b="0">
                <a:solidFill>
                  <a:srgbClr val="0D006A"/>
                </a:solidFill>
                <a:latin typeface="Calibri"/>
              </a:defRPr>
            </a:pPr>
            <a:r>
              <a:t>Step 2: Build a complete CRAFT prompt for that task using the template on the next slide</a:t>
            </a:r>
          </a:p>
        </p:txBody>
      </p:sp>
      <p:sp>
        <p:nvSpPr>
          <p:cNvPr id="13" name="Rectangle 12"/>
          <p:cNvSpPr/>
          <p:nvPr/>
        </p:nvSpPr>
        <p:spPr>
          <a:xfrm>
            <a:off x="378000" y="14075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8000" y="1425599"/>
            <a:ext cx="208800" cy="125999"/>
          </a:xfrm>
          <a:prstGeom prst="rect">
            <a:avLst/>
          </a:prstGeom>
          <a:noFill/>
        </p:spPr>
        <p:txBody>
          <a:bodyPr wrap="square">
            <a:normAutofit/>
          </a:bodyPr>
          <a:lstStyle/>
          <a:p>
            <a:pPr algn="ctr">
              <a:defRPr sz="1200" b="1">
                <a:solidFill>
                  <a:srgbClr val="F2F2F2"/>
                </a:solidFill>
                <a:latin typeface="Calibri"/>
              </a:defRPr>
            </a:pPr>
            <a:r>
              <a:t>4</a:t>
            </a:r>
          </a:p>
        </p:txBody>
      </p:sp>
      <p:sp>
        <p:nvSpPr>
          <p:cNvPr id="15" name="TextBox 14"/>
          <p:cNvSpPr txBox="1"/>
          <p:nvPr/>
        </p:nvSpPr>
        <p:spPr>
          <a:xfrm>
            <a:off x="684000" y="1400399"/>
            <a:ext cx="3671999" cy="223200"/>
          </a:xfrm>
          <a:prstGeom prst="rect">
            <a:avLst/>
          </a:prstGeom>
          <a:noFill/>
        </p:spPr>
        <p:txBody>
          <a:bodyPr wrap="square">
            <a:normAutofit/>
          </a:bodyPr>
          <a:lstStyle/>
          <a:p>
            <a:pPr>
              <a:defRPr sz="1500" b="0">
                <a:solidFill>
                  <a:srgbClr val="0D006A"/>
                </a:solidFill>
                <a:latin typeface="Calibri"/>
              </a:defRPr>
            </a:pPr>
            <a:r>
              <a:t>Step 3: Run the prompt, evaluate the output, and write at least one follow-up prompt</a:t>
            </a:r>
          </a:p>
        </p:txBody>
      </p:sp>
      <p:sp>
        <p:nvSpPr>
          <p:cNvPr id="16" name="Rectangle 15"/>
          <p:cNvSpPr/>
          <p:nvPr/>
        </p:nvSpPr>
        <p:spPr>
          <a:xfrm>
            <a:off x="378000" y="16667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000" y="1684799"/>
            <a:ext cx="208800" cy="125999"/>
          </a:xfrm>
          <a:prstGeom prst="rect">
            <a:avLst/>
          </a:prstGeom>
          <a:noFill/>
        </p:spPr>
        <p:txBody>
          <a:bodyPr wrap="square">
            <a:normAutofit/>
          </a:bodyPr>
          <a:lstStyle/>
          <a:p>
            <a:pPr algn="ctr">
              <a:defRPr sz="1200" b="1">
                <a:solidFill>
                  <a:srgbClr val="F2F2F2"/>
                </a:solidFill>
                <a:latin typeface="Calibri"/>
              </a:defRPr>
            </a:pPr>
            <a:r>
              <a:t>5</a:t>
            </a:r>
          </a:p>
        </p:txBody>
      </p:sp>
      <p:sp>
        <p:nvSpPr>
          <p:cNvPr id="18" name="TextBox 17"/>
          <p:cNvSpPr txBox="1"/>
          <p:nvPr/>
        </p:nvSpPr>
        <p:spPr>
          <a:xfrm>
            <a:off x="684000" y="1659599"/>
            <a:ext cx="3671999" cy="223200"/>
          </a:xfrm>
          <a:prstGeom prst="rect">
            <a:avLst/>
          </a:prstGeom>
          <a:noFill/>
        </p:spPr>
        <p:txBody>
          <a:bodyPr wrap="square">
            <a:normAutofit/>
          </a:bodyPr>
          <a:lstStyle/>
          <a:p>
            <a:pPr>
              <a:defRPr sz="1500" b="0">
                <a:solidFill>
                  <a:srgbClr val="0D006A"/>
                </a:solidFill>
                <a:latin typeface="Calibri"/>
              </a:defRPr>
            </a:pPr>
            <a:r>
              <a:t>Step 4: Share your best output and one lesson learned with a partner</a:t>
            </a:r>
          </a:p>
        </p:txBody>
      </p:sp>
      <p:sp>
        <p:nvSpPr>
          <p:cNvPr id="19" name="Rectangle 18"/>
          <p:cNvSpPr/>
          <p:nvPr/>
        </p:nvSpPr>
        <p:spPr>
          <a:xfrm>
            <a:off x="0" y="2466000"/>
            <a:ext cx="4799880" cy="180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averx_Logo.png"/>
          <p:cNvPicPr>
            <a:picLocks noChangeAspect="1"/>
          </p:cNvPicPr>
          <p:nvPr/>
        </p:nvPicPr>
        <p:blipFill>
          <a:blip r:embed="rId2"/>
          <a:stretch>
            <a:fillRect/>
          </a:stretch>
        </p:blipFill>
        <p:spPr>
          <a:xfrm>
            <a:off x="198000" y="2527200"/>
            <a:ext cx="100543" cy="100800"/>
          </a:xfrm>
          <a:prstGeom prst="rect">
            <a:avLst/>
          </a:prstGeom>
        </p:spPr>
      </p:pic>
      <p:sp>
        <p:nvSpPr>
          <p:cNvPr id="21" name="TextBox 20"/>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DEBDB"/>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Your CRAFT Prompt Template — Fill This In</a:t>
            </a:r>
          </a:p>
        </p:txBody>
      </p:sp>
      <p:sp>
        <p:nvSpPr>
          <p:cNvPr id="3" name="Rectangle 2"/>
          <p:cNvSpPr/>
          <p:nvPr/>
        </p:nvSpPr>
        <p:spPr>
          <a:xfrm>
            <a:off x="306000" y="514800"/>
            <a:ext cx="450000" cy="2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8000" y="630000"/>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8000" y="648000"/>
            <a:ext cx="208800" cy="125999"/>
          </a:xfrm>
          <a:prstGeom prst="rect">
            <a:avLst/>
          </a:prstGeom>
          <a:noFill/>
        </p:spPr>
        <p:txBody>
          <a:bodyPr wrap="square">
            <a:normAutofit/>
          </a:bodyPr>
          <a:lstStyle/>
          <a:p>
            <a:pPr algn="ctr">
              <a:defRPr sz="1200" b="1">
                <a:solidFill>
                  <a:srgbClr val="F2F2F2"/>
                </a:solidFill>
                <a:latin typeface="Calibri"/>
              </a:defRPr>
            </a:pPr>
            <a:r>
              <a:t>1</a:t>
            </a:r>
          </a:p>
        </p:txBody>
      </p:sp>
      <p:sp>
        <p:nvSpPr>
          <p:cNvPr id="6" name="TextBox 5"/>
          <p:cNvSpPr txBox="1"/>
          <p:nvPr/>
        </p:nvSpPr>
        <p:spPr>
          <a:xfrm>
            <a:off x="684000" y="622800"/>
            <a:ext cx="3671999" cy="223200"/>
          </a:xfrm>
          <a:prstGeom prst="rect">
            <a:avLst/>
          </a:prstGeom>
          <a:noFill/>
        </p:spPr>
        <p:txBody>
          <a:bodyPr wrap="square">
            <a:normAutofit/>
          </a:bodyPr>
          <a:lstStyle/>
          <a:p>
            <a:pPr>
              <a:defRPr sz="1500" b="0">
                <a:solidFill>
                  <a:srgbClr val="0D006A"/>
                </a:solidFill>
                <a:latin typeface="Calibri"/>
              </a:defRPr>
            </a:pPr>
            <a:r>
              <a:t>C — Context: [Describe your brand, product, or campaign situation in 2–3 sentences]</a:t>
            </a:r>
          </a:p>
        </p:txBody>
      </p:sp>
      <p:sp>
        <p:nvSpPr>
          <p:cNvPr id="7" name="Rectangle 6"/>
          <p:cNvSpPr/>
          <p:nvPr/>
        </p:nvSpPr>
        <p:spPr>
          <a:xfrm>
            <a:off x="378000" y="8891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8000" y="907199"/>
            <a:ext cx="208800" cy="125999"/>
          </a:xfrm>
          <a:prstGeom prst="rect">
            <a:avLst/>
          </a:prstGeom>
          <a:noFill/>
        </p:spPr>
        <p:txBody>
          <a:bodyPr wrap="square">
            <a:normAutofit/>
          </a:bodyPr>
          <a:lstStyle/>
          <a:p>
            <a:pPr algn="ctr">
              <a:defRPr sz="1200" b="1">
                <a:solidFill>
                  <a:srgbClr val="F2F2F2"/>
                </a:solidFill>
                <a:latin typeface="Calibri"/>
              </a:defRPr>
            </a:pPr>
            <a:r>
              <a:t>2</a:t>
            </a:r>
          </a:p>
        </p:txBody>
      </p:sp>
      <p:sp>
        <p:nvSpPr>
          <p:cNvPr id="9" name="TextBox 8"/>
          <p:cNvSpPr txBox="1"/>
          <p:nvPr/>
        </p:nvSpPr>
        <p:spPr>
          <a:xfrm>
            <a:off x="684000" y="881999"/>
            <a:ext cx="3671999" cy="223200"/>
          </a:xfrm>
          <a:prstGeom prst="rect">
            <a:avLst/>
          </a:prstGeom>
          <a:noFill/>
        </p:spPr>
        <p:txBody>
          <a:bodyPr wrap="square">
            <a:normAutofit/>
          </a:bodyPr>
          <a:lstStyle/>
          <a:p>
            <a:pPr>
              <a:defRPr sz="1500" b="0">
                <a:solidFill>
                  <a:srgbClr val="0D006A"/>
                </a:solidFill>
                <a:latin typeface="Calibri"/>
              </a:defRPr>
            </a:pPr>
            <a:r>
              <a:t>R — Role: [Tell the AI what expert role to play — e.g. 'Act as a senior email marketing specialist']</a:t>
            </a:r>
          </a:p>
        </p:txBody>
      </p:sp>
      <p:sp>
        <p:nvSpPr>
          <p:cNvPr id="10" name="Rectangle 9"/>
          <p:cNvSpPr/>
          <p:nvPr/>
        </p:nvSpPr>
        <p:spPr>
          <a:xfrm>
            <a:off x="378000" y="11483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8000" y="1166399"/>
            <a:ext cx="208800" cy="125999"/>
          </a:xfrm>
          <a:prstGeom prst="rect">
            <a:avLst/>
          </a:prstGeom>
          <a:noFill/>
        </p:spPr>
        <p:txBody>
          <a:bodyPr wrap="square">
            <a:normAutofit/>
          </a:bodyPr>
          <a:lstStyle/>
          <a:p>
            <a:pPr algn="ctr">
              <a:defRPr sz="1200" b="1">
                <a:solidFill>
                  <a:srgbClr val="F2F2F2"/>
                </a:solidFill>
                <a:latin typeface="Calibri"/>
              </a:defRPr>
            </a:pPr>
            <a:r>
              <a:t>3</a:t>
            </a:r>
          </a:p>
        </p:txBody>
      </p:sp>
      <p:sp>
        <p:nvSpPr>
          <p:cNvPr id="12" name="TextBox 11"/>
          <p:cNvSpPr txBox="1"/>
          <p:nvPr/>
        </p:nvSpPr>
        <p:spPr>
          <a:xfrm>
            <a:off x="684000" y="1141199"/>
            <a:ext cx="3671999" cy="223200"/>
          </a:xfrm>
          <a:prstGeom prst="rect">
            <a:avLst/>
          </a:prstGeom>
          <a:noFill/>
        </p:spPr>
        <p:txBody>
          <a:bodyPr wrap="square">
            <a:normAutofit/>
          </a:bodyPr>
          <a:lstStyle/>
          <a:p>
            <a:pPr>
              <a:defRPr sz="1500" b="0">
                <a:solidFill>
                  <a:srgbClr val="0D006A"/>
                </a:solidFill>
                <a:latin typeface="Calibri"/>
              </a:defRPr>
            </a:pPr>
            <a:r>
              <a:t>A — Action: [State exactly what content you want — format, number of variations, specific ask]</a:t>
            </a:r>
          </a:p>
        </p:txBody>
      </p:sp>
      <p:sp>
        <p:nvSpPr>
          <p:cNvPr id="13" name="Rectangle 12"/>
          <p:cNvSpPr/>
          <p:nvPr/>
        </p:nvSpPr>
        <p:spPr>
          <a:xfrm>
            <a:off x="378000" y="14075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8000" y="1425599"/>
            <a:ext cx="208800" cy="125999"/>
          </a:xfrm>
          <a:prstGeom prst="rect">
            <a:avLst/>
          </a:prstGeom>
          <a:noFill/>
        </p:spPr>
        <p:txBody>
          <a:bodyPr wrap="square">
            <a:normAutofit/>
          </a:bodyPr>
          <a:lstStyle/>
          <a:p>
            <a:pPr algn="ctr">
              <a:defRPr sz="1200" b="1">
                <a:solidFill>
                  <a:srgbClr val="F2F2F2"/>
                </a:solidFill>
                <a:latin typeface="Calibri"/>
              </a:defRPr>
            </a:pPr>
            <a:r>
              <a:t>4</a:t>
            </a:r>
          </a:p>
        </p:txBody>
      </p:sp>
      <p:sp>
        <p:nvSpPr>
          <p:cNvPr id="15" name="TextBox 14"/>
          <p:cNvSpPr txBox="1"/>
          <p:nvPr/>
        </p:nvSpPr>
        <p:spPr>
          <a:xfrm>
            <a:off x="684000" y="1400399"/>
            <a:ext cx="3671999" cy="223200"/>
          </a:xfrm>
          <a:prstGeom prst="rect">
            <a:avLst/>
          </a:prstGeom>
          <a:noFill/>
        </p:spPr>
        <p:txBody>
          <a:bodyPr wrap="square">
            <a:normAutofit/>
          </a:bodyPr>
          <a:lstStyle/>
          <a:p>
            <a:pPr>
              <a:defRPr sz="1500" b="0">
                <a:solidFill>
                  <a:srgbClr val="0D006A"/>
                </a:solidFill>
                <a:latin typeface="Calibri"/>
              </a:defRPr>
            </a:pPr>
            <a:r>
              <a:t>F — Format: [Specify word count or character limit, tone, structure, any mandatory elements]</a:t>
            </a:r>
          </a:p>
        </p:txBody>
      </p:sp>
      <p:sp>
        <p:nvSpPr>
          <p:cNvPr id="16" name="Rectangle 15"/>
          <p:cNvSpPr/>
          <p:nvPr/>
        </p:nvSpPr>
        <p:spPr>
          <a:xfrm>
            <a:off x="378000" y="16667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000" y="1684799"/>
            <a:ext cx="208800" cy="125999"/>
          </a:xfrm>
          <a:prstGeom prst="rect">
            <a:avLst/>
          </a:prstGeom>
          <a:noFill/>
        </p:spPr>
        <p:txBody>
          <a:bodyPr wrap="square">
            <a:normAutofit/>
          </a:bodyPr>
          <a:lstStyle/>
          <a:p>
            <a:pPr algn="ctr">
              <a:defRPr sz="1200" b="1">
                <a:solidFill>
                  <a:srgbClr val="F2F2F2"/>
                </a:solidFill>
                <a:latin typeface="Calibri"/>
              </a:defRPr>
            </a:pPr>
            <a:r>
              <a:t>5</a:t>
            </a:r>
          </a:p>
        </p:txBody>
      </p:sp>
      <p:sp>
        <p:nvSpPr>
          <p:cNvPr id="18" name="TextBox 17"/>
          <p:cNvSpPr txBox="1"/>
          <p:nvPr/>
        </p:nvSpPr>
        <p:spPr>
          <a:xfrm>
            <a:off x="684000" y="1659599"/>
            <a:ext cx="3671999" cy="223200"/>
          </a:xfrm>
          <a:prstGeom prst="rect">
            <a:avLst/>
          </a:prstGeom>
          <a:noFill/>
        </p:spPr>
        <p:txBody>
          <a:bodyPr wrap="square">
            <a:normAutofit/>
          </a:bodyPr>
          <a:lstStyle/>
          <a:p>
            <a:pPr>
              <a:defRPr sz="1500" b="0">
                <a:solidFill>
                  <a:srgbClr val="0D006A"/>
                </a:solidFill>
                <a:latin typeface="Calibri"/>
              </a:defRPr>
            </a:pPr>
            <a:r>
              <a:t>T — Target: [Describe the specific audience who will read this — demographics, values, platform]</a:t>
            </a:r>
          </a:p>
        </p:txBody>
      </p:sp>
      <p:sp>
        <p:nvSpPr>
          <p:cNvPr id="19" name="Rectangle 18"/>
          <p:cNvSpPr/>
          <p:nvPr/>
        </p:nvSpPr>
        <p:spPr>
          <a:xfrm>
            <a:off x="0" y="2466000"/>
            <a:ext cx="4799880" cy="180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averx_Logo.png"/>
          <p:cNvPicPr>
            <a:picLocks noChangeAspect="1"/>
          </p:cNvPicPr>
          <p:nvPr/>
        </p:nvPicPr>
        <p:blipFill>
          <a:blip r:embed="rId2"/>
          <a:stretch>
            <a:fillRect/>
          </a:stretch>
        </p:blipFill>
        <p:spPr>
          <a:xfrm>
            <a:off x="198000" y="2527200"/>
            <a:ext cx="100543" cy="100800"/>
          </a:xfrm>
          <a:prstGeom prst="rect">
            <a:avLst/>
          </a:prstGeom>
        </p:spPr>
      </p:pic>
      <p:sp>
        <p:nvSpPr>
          <p:cNvPr id="21" name="TextBox 20"/>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EBDB"/>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During the Exercise: Coaching Prompts to Guide You</a:t>
            </a:r>
          </a:p>
        </p:txBody>
      </p:sp>
      <p:sp>
        <p:nvSpPr>
          <p:cNvPr id="3" name="Rectangle 2"/>
          <p:cNvSpPr/>
          <p:nvPr/>
        </p:nvSpPr>
        <p:spPr>
          <a:xfrm>
            <a:off x="306000" y="514800"/>
            <a:ext cx="450000" cy="2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8000" y="630000"/>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8000" y="648000"/>
            <a:ext cx="208800" cy="125999"/>
          </a:xfrm>
          <a:prstGeom prst="rect">
            <a:avLst/>
          </a:prstGeom>
          <a:noFill/>
        </p:spPr>
        <p:txBody>
          <a:bodyPr wrap="square">
            <a:normAutofit/>
          </a:bodyPr>
          <a:lstStyle/>
          <a:p>
            <a:pPr algn="ctr">
              <a:defRPr sz="1200" b="1">
                <a:solidFill>
                  <a:srgbClr val="F2F2F2"/>
                </a:solidFill>
                <a:latin typeface="Calibri"/>
              </a:defRPr>
            </a:pPr>
            <a:r>
              <a:t>1</a:t>
            </a:r>
          </a:p>
        </p:txBody>
      </p:sp>
      <p:sp>
        <p:nvSpPr>
          <p:cNvPr id="6" name="TextBox 5"/>
          <p:cNvSpPr txBox="1"/>
          <p:nvPr/>
        </p:nvSpPr>
        <p:spPr>
          <a:xfrm>
            <a:off x="684000" y="622800"/>
            <a:ext cx="3671999" cy="223200"/>
          </a:xfrm>
          <a:prstGeom prst="rect">
            <a:avLst/>
          </a:prstGeom>
          <a:noFill/>
        </p:spPr>
        <p:txBody>
          <a:bodyPr wrap="square">
            <a:normAutofit/>
          </a:bodyPr>
          <a:lstStyle/>
          <a:p>
            <a:pPr>
              <a:defRPr sz="1500" b="0">
                <a:solidFill>
                  <a:srgbClr val="0D006A"/>
                </a:solidFill>
                <a:latin typeface="Calibri"/>
              </a:defRPr>
            </a:pPr>
            <a:r>
              <a:t>If the output sounds too generic: add more specific brand voice cues to your Context — e.g. 'We never use exclamation marks and always use you directly'</a:t>
            </a:r>
          </a:p>
        </p:txBody>
      </p:sp>
      <p:sp>
        <p:nvSpPr>
          <p:cNvPr id="7" name="Rectangle 6"/>
          <p:cNvSpPr/>
          <p:nvPr/>
        </p:nvSpPr>
        <p:spPr>
          <a:xfrm>
            <a:off x="378000" y="8891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8000" y="907199"/>
            <a:ext cx="208800" cy="125999"/>
          </a:xfrm>
          <a:prstGeom prst="rect">
            <a:avLst/>
          </a:prstGeom>
          <a:noFill/>
        </p:spPr>
        <p:txBody>
          <a:bodyPr wrap="square">
            <a:normAutofit/>
          </a:bodyPr>
          <a:lstStyle/>
          <a:p>
            <a:pPr algn="ctr">
              <a:defRPr sz="1200" b="1">
                <a:solidFill>
                  <a:srgbClr val="F2F2F2"/>
                </a:solidFill>
                <a:latin typeface="Calibri"/>
              </a:defRPr>
            </a:pPr>
            <a:r>
              <a:t>2</a:t>
            </a:r>
          </a:p>
        </p:txBody>
      </p:sp>
      <p:sp>
        <p:nvSpPr>
          <p:cNvPr id="9" name="TextBox 8"/>
          <p:cNvSpPr txBox="1"/>
          <p:nvPr/>
        </p:nvSpPr>
        <p:spPr>
          <a:xfrm>
            <a:off x="684000" y="881999"/>
            <a:ext cx="3671999" cy="223200"/>
          </a:xfrm>
          <a:prstGeom prst="rect">
            <a:avLst/>
          </a:prstGeom>
          <a:noFill/>
        </p:spPr>
        <p:txBody>
          <a:bodyPr wrap="square">
            <a:normAutofit/>
          </a:bodyPr>
          <a:lstStyle/>
          <a:p>
            <a:pPr>
              <a:defRPr sz="1500" b="0">
                <a:solidFill>
                  <a:srgbClr val="0D006A"/>
                </a:solidFill>
                <a:latin typeface="Calibri"/>
              </a:defRPr>
            </a:pPr>
            <a:r>
              <a:t>If the output is too long: add to Format — 'Shorten to maximum 3 sentences and cut any filler phrases'</a:t>
            </a:r>
          </a:p>
        </p:txBody>
      </p:sp>
      <p:sp>
        <p:nvSpPr>
          <p:cNvPr id="10" name="Rectangle 9"/>
          <p:cNvSpPr/>
          <p:nvPr/>
        </p:nvSpPr>
        <p:spPr>
          <a:xfrm>
            <a:off x="378000" y="11483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8000" y="1166399"/>
            <a:ext cx="208800" cy="125999"/>
          </a:xfrm>
          <a:prstGeom prst="rect">
            <a:avLst/>
          </a:prstGeom>
          <a:noFill/>
        </p:spPr>
        <p:txBody>
          <a:bodyPr wrap="square">
            <a:normAutofit/>
          </a:bodyPr>
          <a:lstStyle/>
          <a:p>
            <a:pPr algn="ctr">
              <a:defRPr sz="1200" b="1">
                <a:solidFill>
                  <a:srgbClr val="F2F2F2"/>
                </a:solidFill>
                <a:latin typeface="Calibri"/>
              </a:defRPr>
            </a:pPr>
            <a:r>
              <a:t>3</a:t>
            </a:r>
          </a:p>
        </p:txBody>
      </p:sp>
      <p:sp>
        <p:nvSpPr>
          <p:cNvPr id="12" name="TextBox 11"/>
          <p:cNvSpPr txBox="1"/>
          <p:nvPr/>
        </p:nvSpPr>
        <p:spPr>
          <a:xfrm>
            <a:off x="684000" y="1141199"/>
            <a:ext cx="3671999" cy="223200"/>
          </a:xfrm>
          <a:prstGeom prst="rect">
            <a:avLst/>
          </a:prstGeom>
          <a:noFill/>
        </p:spPr>
        <p:txBody>
          <a:bodyPr wrap="square">
            <a:normAutofit/>
          </a:bodyPr>
          <a:lstStyle/>
          <a:p>
            <a:pPr>
              <a:defRPr sz="1500" b="0">
                <a:solidFill>
                  <a:srgbClr val="0D006A"/>
                </a:solidFill>
                <a:latin typeface="Calibri"/>
              </a:defRPr>
            </a:pPr>
            <a:r>
              <a:t>If the angle is wrong: add to Action — 'Rewrite focusing only on the benefit of saving time, not on the product features'</a:t>
            </a:r>
          </a:p>
        </p:txBody>
      </p:sp>
      <p:sp>
        <p:nvSpPr>
          <p:cNvPr id="13" name="Rectangle 12"/>
          <p:cNvSpPr/>
          <p:nvPr/>
        </p:nvSpPr>
        <p:spPr>
          <a:xfrm>
            <a:off x="378000" y="14075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8000" y="1425599"/>
            <a:ext cx="208800" cy="125999"/>
          </a:xfrm>
          <a:prstGeom prst="rect">
            <a:avLst/>
          </a:prstGeom>
          <a:noFill/>
        </p:spPr>
        <p:txBody>
          <a:bodyPr wrap="square">
            <a:normAutofit/>
          </a:bodyPr>
          <a:lstStyle/>
          <a:p>
            <a:pPr algn="ctr">
              <a:defRPr sz="1200" b="1">
                <a:solidFill>
                  <a:srgbClr val="F2F2F2"/>
                </a:solidFill>
                <a:latin typeface="Calibri"/>
              </a:defRPr>
            </a:pPr>
            <a:r>
              <a:t>4</a:t>
            </a:r>
          </a:p>
        </p:txBody>
      </p:sp>
      <p:sp>
        <p:nvSpPr>
          <p:cNvPr id="15" name="TextBox 14"/>
          <p:cNvSpPr txBox="1"/>
          <p:nvPr/>
        </p:nvSpPr>
        <p:spPr>
          <a:xfrm>
            <a:off x="684000" y="1400399"/>
            <a:ext cx="3671999" cy="223200"/>
          </a:xfrm>
          <a:prstGeom prst="rect">
            <a:avLst/>
          </a:prstGeom>
          <a:noFill/>
        </p:spPr>
        <p:txBody>
          <a:bodyPr wrap="square">
            <a:normAutofit/>
          </a:bodyPr>
          <a:lstStyle/>
          <a:p>
            <a:pPr>
              <a:defRPr sz="1500" b="0">
                <a:solidFill>
                  <a:srgbClr val="0D006A"/>
                </a:solidFill>
                <a:latin typeface="Calibri"/>
              </a:defRPr>
            </a:pPr>
            <a:r>
              <a:t>If you want more variety: 'Give me three completely different creative angles for the same message'</a:t>
            </a:r>
          </a:p>
        </p:txBody>
      </p:sp>
      <p:sp>
        <p:nvSpPr>
          <p:cNvPr id="16" name="Rectangle 15"/>
          <p:cNvSpPr/>
          <p:nvPr/>
        </p:nvSpPr>
        <p:spPr>
          <a:xfrm>
            <a:off x="378000" y="16667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000" y="1684799"/>
            <a:ext cx="208800" cy="125999"/>
          </a:xfrm>
          <a:prstGeom prst="rect">
            <a:avLst/>
          </a:prstGeom>
          <a:noFill/>
        </p:spPr>
        <p:txBody>
          <a:bodyPr wrap="square">
            <a:normAutofit/>
          </a:bodyPr>
          <a:lstStyle/>
          <a:p>
            <a:pPr algn="ctr">
              <a:defRPr sz="1200" b="1">
                <a:solidFill>
                  <a:srgbClr val="F2F2F2"/>
                </a:solidFill>
                <a:latin typeface="Calibri"/>
              </a:defRPr>
            </a:pPr>
            <a:r>
              <a:t>5</a:t>
            </a:r>
          </a:p>
        </p:txBody>
      </p:sp>
      <p:sp>
        <p:nvSpPr>
          <p:cNvPr id="18" name="TextBox 17"/>
          <p:cNvSpPr txBox="1"/>
          <p:nvPr/>
        </p:nvSpPr>
        <p:spPr>
          <a:xfrm>
            <a:off x="684000" y="1659599"/>
            <a:ext cx="3671999" cy="223200"/>
          </a:xfrm>
          <a:prstGeom prst="rect">
            <a:avLst/>
          </a:prstGeom>
          <a:noFill/>
        </p:spPr>
        <p:txBody>
          <a:bodyPr wrap="square">
            <a:normAutofit/>
          </a:bodyPr>
          <a:lstStyle/>
          <a:p>
            <a:pPr>
              <a:defRPr sz="1500" b="0">
                <a:solidFill>
                  <a:srgbClr val="0D006A"/>
                </a:solidFill>
                <a:latin typeface="Calibri"/>
              </a:defRPr>
            </a:pPr>
            <a:r>
              <a:t>If you love one part: 'Keep the first paragraph exactly as it is and rewrite only the closing call to action'</a:t>
            </a:r>
          </a:p>
        </p:txBody>
      </p:sp>
      <p:sp>
        <p:nvSpPr>
          <p:cNvPr id="19" name="Rectangle 18"/>
          <p:cNvSpPr/>
          <p:nvPr/>
        </p:nvSpPr>
        <p:spPr>
          <a:xfrm>
            <a:off x="0" y="2466000"/>
            <a:ext cx="4799880" cy="180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averx_Logo.png"/>
          <p:cNvPicPr>
            <a:picLocks noChangeAspect="1"/>
          </p:cNvPicPr>
          <p:nvPr/>
        </p:nvPicPr>
        <p:blipFill>
          <a:blip r:embed="rId2"/>
          <a:stretch>
            <a:fillRect/>
          </a:stretch>
        </p:blipFill>
        <p:spPr>
          <a:xfrm>
            <a:off x="198000" y="2527200"/>
            <a:ext cx="100543" cy="100800"/>
          </a:xfrm>
          <a:prstGeom prst="rect">
            <a:avLst/>
          </a:prstGeom>
        </p:spPr>
      </p:pic>
      <p:sp>
        <p:nvSpPr>
          <p:cNvPr id="21" name="TextBox 20"/>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DEBDB"/>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Pair Review and Group Share</a:t>
            </a:r>
          </a:p>
        </p:txBody>
      </p:sp>
      <p:sp>
        <p:nvSpPr>
          <p:cNvPr id="3" name="Rectangle 2"/>
          <p:cNvSpPr/>
          <p:nvPr/>
        </p:nvSpPr>
        <p:spPr>
          <a:xfrm>
            <a:off x="306000" y="514800"/>
            <a:ext cx="450000" cy="2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8000" y="630000"/>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8000" y="648000"/>
            <a:ext cx="208800" cy="125999"/>
          </a:xfrm>
          <a:prstGeom prst="rect">
            <a:avLst/>
          </a:prstGeom>
          <a:noFill/>
        </p:spPr>
        <p:txBody>
          <a:bodyPr wrap="square">
            <a:normAutofit/>
          </a:bodyPr>
          <a:lstStyle/>
          <a:p>
            <a:pPr algn="ctr">
              <a:defRPr sz="1200" b="1">
                <a:solidFill>
                  <a:srgbClr val="F2F2F2"/>
                </a:solidFill>
                <a:latin typeface="Calibri"/>
              </a:defRPr>
            </a:pPr>
            <a:r>
              <a:t>1</a:t>
            </a:r>
          </a:p>
        </p:txBody>
      </p:sp>
      <p:sp>
        <p:nvSpPr>
          <p:cNvPr id="6" name="TextBox 5"/>
          <p:cNvSpPr txBox="1"/>
          <p:nvPr/>
        </p:nvSpPr>
        <p:spPr>
          <a:xfrm>
            <a:off x="684000" y="622800"/>
            <a:ext cx="3671999" cy="223200"/>
          </a:xfrm>
          <a:prstGeom prst="rect">
            <a:avLst/>
          </a:prstGeom>
          <a:noFill/>
        </p:spPr>
        <p:txBody>
          <a:bodyPr wrap="square">
            <a:normAutofit/>
          </a:bodyPr>
          <a:lstStyle/>
          <a:p>
            <a:pPr>
              <a:defRPr sz="1500" b="0">
                <a:solidFill>
                  <a:srgbClr val="0D006A"/>
                </a:solidFill>
                <a:latin typeface="Calibri"/>
              </a:defRPr>
            </a:pPr>
            <a:r>
              <a:t>Share your final prompt and best output with your partner — give each other 2 minutes to read</a:t>
            </a:r>
          </a:p>
        </p:txBody>
      </p:sp>
      <p:sp>
        <p:nvSpPr>
          <p:cNvPr id="7" name="Rectangle 6"/>
          <p:cNvSpPr/>
          <p:nvPr/>
        </p:nvSpPr>
        <p:spPr>
          <a:xfrm>
            <a:off x="378000" y="8891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8000" y="907199"/>
            <a:ext cx="208800" cy="125999"/>
          </a:xfrm>
          <a:prstGeom prst="rect">
            <a:avLst/>
          </a:prstGeom>
          <a:noFill/>
        </p:spPr>
        <p:txBody>
          <a:bodyPr wrap="square">
            <a:normAutofit/>
          </a:bodyPr>
          <a:lstStyle/>
          <a:p>
            <a:pPr algn="ctr">
              <a:defRPr sz="1200" b="1">
                <a:solidFill>
                  <a:srgbClr val="F2F2F2"/>
                </a:solidFill>
                <a:latin typeface="Calibri"/>
              </a:defRPr>
            </a:pPr>
            <a:r>
              <a:t>2</a:t>
            </a:r>
          </a:p>
        </p:txBody>
      </p:sp>
      <p:sp>
        <p:nvSpPr>
          <p:cNvPr id="9" name="TextBox 8"/>
          <p:cNvSpPr txBox="1"/>
          <p:nvPr/>
        </p:nvSpPr>
        <p:spPr>
          <a:xfrm>
            <a:off x="684000" y="881999"/>
            <a:ext cx="3671999" cy="223200"/>
          </a:xfrm>
          <a:prstGeom prst="rect">
            <a:avLst/>
          </a:prstGeom>
          <a:noFill/>
        </p:spPr>
        <p:txBody>
          <a:bodyPr wrap="square">
            <a:normAutofit/>
          </a:bodyPr>
          <a:lstStyle/>
          <a:p>
            <a:pPr>
              <a:defRPr sz="1500" b="0">
                <a:solidFill>
                  <a:srgbClr val="0D006A"/>
                </a:solidFill>
                <a:latin typeface="Calibri"/>
              </a:defRPr>
            </a:pPr>
            <a:r>
              <a:t>Feedback question 1: 'What do you think was the strongest element of their CRAFT prompt?'</a:t>
            </a:r>
          </a:p>
        </p:txBody>
      </p:sp>
      <p:sp>
        <p:nvSpPr>
          <p:cNvPr id="10" name="Rectangle 9"/>
          <p:cNvSpPr/>
          <p:nvPr/>
        </p:nvSpPr>
        <p:spPr>
          <a:xfrm>
            <a:off x="378000" y="11483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8000" y="1166399"/>
            <a:ext cx="208800" cy="125999"/>
          </a:xfrm>
          <a:prstGeom prst="rect">
            <a:avLst/>
          </a:prstGeom>
          <a:noFill/>
        </p:spPr>
        <p:txBody>
          <a:bodyPr wrap="square">
            <a:normAutofit/>
          </a:bodyPr>
          <a:lstStyle/>
          <a:p>
            <a:pPr algn="ctr">
              <a:defRPr sz="1200" b="1">
                <a:solidFill>
                  <a:srgbClr val="F2F2F2"/>
                </a:solidFill>
                <a:latin typeface="Calibri"/>
              </a:defRPr>
            </a:pPr>
            <a:r>
              <a:t>3</a:t>
            </a:r>
          </a:p>
        </p:txBody>
      </p:sp>
      <p:sp>
        <p:nvSpPr>
          <p:cNvPr id="12" name="TextBox 11"/>
          <p:cNvSpPr txBox="1"/>
          <p:nvPr/>
        </p:nvSpPr>
        <p:spPr>
          <a:xfrm>
            <a:off x="684000" y="1141199"/>
            <a:ext cx="3671999" cy="223200"/>
          </a:xfrm>
          <a:prstGeom prst="rect">
            <a:avLst/>
          </a:prstGeom>
          <a:noFill/>
        </p:spPr>
        <p:txBody>
          <a:bodyPr wrap="square">
            <a:normAutofit/>
          </a:bodyPr>
          <a:lstStyle/>
          <a:p>
            <a:pPr>
              <a:defRPr sz="1500" b="0">
                <a:solidFill>
                  <a:srgbClr val="0D006A"/>
                </a:solidFill>
                <a:latin typeface="Calibri"/>
              </a:defRPr>
            </a:pPr>
            <a:r>
              <a:t>Feedback question 2: 'What one change would make the output even more on-brand or usable?'</a:t>
            </a:r>
          </a:p>
        </p:txBody>
      </p:sp>
      <p:sp>
        <p:nvSpPr>
          <p:cNvPr id="13" name="Rectangle 12"/>
          <p:cNvSpPr/>
          <p:nvPr/>
        </p:nvSpPr>
        <p:spPr>
          <a:xfrm>
            <a:off x="378000" y="14075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8000" y="1425599"/>
            <a:ext cx="208800" cy="125999"/>
          </a:xfrm>
          <a:prstGeom prst="rect">
            <a:avLst/>
          </a:prstGeom>
          <a:noFill/>
        </p:spPr>
        <p:txBody>
          <a:bodyPr wrap="square">
            <a:normAutofit/>
          </a:bodyPr>
          <a:lstStyle/>
          <a:p>
            <a:pPr algn="ctr">
              <a:defRPr sz="1200" b="1">
                <a:solidFill>
                  <a:srgbClr val="F2F2F2"/>
                </a:solidFill>
                <a:latin typeface="Calibri"/>
              </a:defRPr>
            </a:pPr>
            <a:r>
              <a:t>4</a:t>
            </a:r>
          </a:p>
        </p:txBody>
      </p:sp>
      <p:sp>
        <p:nvSpPr>
          <p:cNvPr id="15" name="TextBox 14"/>
          <p:cNvSpPr txBox="1"/>
          <p:nvPr/>
        </p:nvSpPr>
        <p:spPr>
          <a:xfrm>
            <a:off x="684000" y="1400399"/>
            <a:ext cx="3671999" cy="223200"/>
          </a:xfrm>
          <a:prstGeom prst="rect">
            <a:avLst/>
          </a:prstGeom>
          <a:noFill/>
        </p:spPr>
        <p:txBody>
          <a:bodyPr wrap="square">
            <a:normAutofit/>
          </a:bodyPr>
          <a:lstStyle/>
          <a:p>
            <a:pPr>
              <a:defRPr sz="1500" b="0">
                <a:solidFill>
                  <a:srgbClr val="0D006A"/>
                </a:solidFill>
                <a:latin typeface="Calibri"/>
              </a:defRPr>
            </a:pPr>
            <a:r>
              <a:t>Group share: two pairs will show their prompt and output to the full group and explain one thing they learned</a:t>
            </a:r>
          </a:p>
        </p:txBody>
      </p:sp>
      <p:sp>
        <p:nvSpPr>
          <p:cNvPr id="16" name="Rectangle 15"/>
          <p:cNvSpPr/>
          <p:nvPr/>
        </p:nvSpPr>
        <p:spPr>
          <a:xfrm>
            <a:off x="378000" y="1666799"/>
            <a:ext cx="208800" cy="2088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000" y="1684799"/>
            <a:ext cx="208800" cy="125999"/>
          </a:xfrm>
          <a:prstGeom prst="rect">
            <a:avLst/>
          </a:prstGeom>
          <a:noFill/>
        </p:spPr>
        <p:txBody>
          <a:bodyPr wrap="square">
            <a:normAutofit/>
          </a:bodyPr>
          <a:lstStyle/>
          <a:p>
            <a:pPr algn="ctr">
              <a:defRPr sz="1200" b="1">
                <a:solidFill>
                  <a:srgbClr val="F2F2F2"/>
                </a:solidFill>
                <a:latin typeface="Calibri"/>
              </a:defRPr>
            </a:pPr>
            <a:r>
              <a:t>5</a:t>
            </a:r>
          </a:p>
        </p:txBody>
      </p:sp>
      <p:sp>
        <p:nvSpPr>
          <p:cNvPr id="18" name="TextBox 17"/>
          <p:cNvSpPr txBox="1"/>
          <p:nvPr/>
        </p:nvSpPr>
        <p:spPr>
          <a:xfrm>
            <a:off x="684000" y="1659599"/>
            <a:ext cx="3671999" cy="223200"/>
          </a:xfrm>
          <a:prstGeom prst="rect">
            <a:avLst/>
          </a:prstGeom>
          <a:noFill/>
        </p:spPr>
        <p:txBody>
          <a:bodyPr wrap="square">
            <a:normAutofit/>
          </a:bodyPr>
          <a:lstStyle/>
          <a:p>
            <a:pPr>
              <a:defRPr sz="1500" b="0">
                <a:solidFill>
                  <a:srgbClr val="0D006A"/>
                </a:solidFill>
                <a:latin typeface="Calibri"/>
              </a:defRPr>
            </a:pPr>
            <a:r>
              <a:t>We are looking for: what worked, what surprised you, and what you will do differently next time</a:t>
            </a:r>
          </a:p>
        </p:txBody>
      </p:sp>
      <p:sp>
        <p:nvSpPr>
          <p:cNvPr id="19" name="Rectangle 18"/>
          <p:cNvSpPr/>
          <p:nvPr/>
        </p:nvSpPr>
        <p:spPr>
          <a:xfrm>
            <a:off x="0" y="2466000"/>
            <a:ext cx="4799880" cy="18000"/>
          </a:xfrm>
          <a:prstGeom prst="rect">
            <a:avLst/>
          </a:prstGeom>
          <a:solidFill>
            <a:srgbClr val="F48A28"/>
          </a:solidFill>
          <a:ln>
            <a:solidFill>
              <a:srgbClr val="F48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averx_Logo.png"/>
          <p:cNvPicPr>
            <a:picLocks noChangeAspect="1"/>
          </p:cNvPicPr>
          <p:nvPr/>
        </p:nvPicPr>
        <p:blipFill>
          <a:blip r:embed="rId2"/>
          <a:stretch>
            <a:fillRect/>
          </a:stretch>
        </p:blipFill>
        <p:spPr>
          <a:xfrm>
            <a:off x="198000" y="2527200"/>
            <a:ext cx="100543" cy="100800"/>
          </a:xfrm>
          <a:prstGeom prst="rect">
            <a:avLst/>
          </a:prstGeom>
        </p:spPr>
      </p:pic>
      <p:sp>
        <p:nvSpPr>
          <p:cNvPr id="21" name="TextBox 20"/>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DE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What You Can Now Do: Your Five New Skills</a:t>
            </a:r>
          </a:p>
        </p:txBody>
      </p:sp>
      <p:sp>
        <p:nvSpPr>
          <p:cNvPr id="3" name="Rectangle 2"/>
          <p:cNvSpPr/>
          <p:nvPr/>
        </p:nvSpPr>
        <p:spPr>
          <a:xfrm>
            <a:off x="306000" y="514800"/>
            <a:ext cx="450000" cy="2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Skill 1: Use the CRAFT framework to build complete, structured prompts for any marketing task</a:t>
            </a:r>
          </a:p>
          <a:p>
            <a:pPr>
              <a:spcAft>
                <a:spcPts val="700"/>
              </a:spcAft>
              <a:defRPr sz="1700">
                <a:solidFill>
                  <a:srgbClr val="0D006A"/>
                </a:solidFill>
                <a:latin typeface="Calibri"/>
              </a:defRPr>
            </a:pPr>
            <a:r>
              <a:t>Skill 2: Give the AI a specific role and brand context so outputs sound like your brand, not a generic template</a:t>
            </a:r>
          </a:p>
          <a:p>
            <a:pPr>
              <a:spcAft>
                <a:spcPts val="700"/>
              </a:spcAft>
              <a:defRPr sz="1700">
                <a:solidFill>
                  <a:srgbClr val="0D006A"/>
                </a:solidFill>
                <a:latin typeface="Calibri"/>
              </a:defRPr>
            </a:pPr>
            <a:r>
              <a:t>Skill 3: Identify weak outputs and know exactly which element of the prompt to fix</a:t>
            </a:r>
          </a:p>
          <a:p>
            <a:pPr>
              <a:spcAft>
                <a:spcPts val="700"/>
              </a:spcAft>
              <a:defRPr sz="1700">
                <a:solidFill>
                  <a:srgbClr val="0D006A"/>
                </a:solidFill>
                <a:latin typeface="Calibri"/>
              </a:defRPr>
            </a:pPr>
            <a:r>
              <a:t>Skill 4: Iterate with targeted follow-up prompts instead of rewriting from scratch</a:t>
            </a:r>
          </a:p>
          <a:p>
            <a:pPr>
              <a:spcAft>
                <a:spcPts val="700"/>
              </a:spcAft>
              <a:defRPr sz="1700">
                <a:solidFill>
                  <a:srgbClr val="0D006A"/>
                </a:solidFill>
                <a:latin typeface="Calibri"/>
              </a:defRPr>
            </a:pPr>
            <a:r>
              <a:t>Skill 5: Save and reuse your best prompts to build a personal marketing prompt library</a:t>
            </a:r>
          </a:p>
        </p:txBody>
      </p:sp>
      <p:sp>
        <p:nvSpPr>
          <p:cNvPr id="5" name="Rectangle 4"/>
          <p:cNvSpPr/>
          <p:nvPr/>
        </p:nvSpPr>
        <p:spPr>
          <a:xfrm>
            <a:off x="306000" y="2232000"/>
            <a:ext cx="4194000" cy="20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Skill 5: Save and reuse your best prompts to build a personal marketing prompt library</a:t>
            </a:r>
          </a:p>
        </p:txBody>
      </p:sp>
      <p:sp>
        <p:nvSpPr>
          <p:cNvPr id="7" name="Rectangle 6"/>
          <p:cNvSpPr/>
          <p:nvPr/>
        </p:nvSpPr>
        <p:spPr>
          <a:xfrm>
            <a:off x="0" y="2466000"/>
            <a:ext cx="4799880" cy="180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DE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From Training to Daily Practice: Your Action Plan</a:t>
            </a:r>
          </a:p>
        </p:txBody>
      </p:sp>
      <p:sp>
        <p:nvSpPr>
          <p:cNvPr id="3" name="Rectangle 2"/>
          <p:cNvSpPr/>
          <p:nvPr/>
        </p:nvSpPr>
        <p:spPr>
          <a:xfrm>
            <a:off x="306000" y="514800"/>
            <a:ext cx="450000" cy="2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This week: use CRAFT for one real task per day — choose low-stakes content like social posts or email drafts to build confidence</a:t>
            </a:r>
          </a:p>
          <a:p>
            <a:pPr>
              <a:spcAft>
                <a:spcPts val="700"/>
              </a:spcAft>
              <a:defRPr sz="1700">
                <a:solidFill>
                  <a:srgbClr val="0D006A"/>
                </a:solidFill>
                <a:latin typeface="Calibri"/>
              </a:defRPr>
            </a:pPr>
            <a:r>
              <a:t>This week: save every prompt that produces a good output in a shared doc or Notion page titled 'Our Prompt Library'</a:t>
            </a:r>
          </a:p>
          <a:p>
            <a:pPr>
              <a:spcAft>
                <a:spcPts val="700"/>
              </a:spcAft>
              <a:defRPr sz="1700">
                <a:solidFill>
                  <a:srgbClr val="0D006A"/>
                </a:solidFill>
                <a:latin typeface="Calibri"/>
              </a:defRPr>
            </a:pPr>
            <a:r>
              <a:t>Next two weeks: identify the three content types your team produces most often and build a reusable CRAFT template for each</a:t>
            </a:r>
          </a:p>
          <a:p>
            <a:pPr>
              <a:spcAft>
                <a:spcPts val="700"/>
              </a:spcAft>
              <a:defRPr sz="1700">
                <a:solidFill>
                  <a:srgbClr val="0D006A"/>
                </a:solidFill>
                <a:latin typeface="Calibri"/>
              </a:defRPr>
            </a:pPr>
            <a:r>
              <a:t>This month: share one prompt win in your team meeting — what you prompted, what you got, how much time it saved</a:t>
            </a:r>
          </a:p>
          <a:p>
            <a:pPr>
              <a:spcAft>
                <a:spcPts val="700"/>
              </a:spcAft>
              <a:defRPr sz="1700">
                <a:solidFill>
                  <a:srgbClr val="0D006A"/>
                </a:solidFill>
                <a:latin typeface="Calibri"/>
              </a:defRPr>
            </a:pPr>
            <a:r>
              <a:t>Ongoing: when a prompt fails, diagnose which CRAFT element was missing before giving up on the tool</a:t>
            </a:r>
          </a:p>
        </p:txBody>
      </p:sp>
      <p:sp>
        <p:nvSpPr>
          <p:cNvPr id="5" name="Rectangle 4"/>
          <p:cNvSpPr/>
          <p:nvPr/>
        </p:nvSpPr>
        <p:spPr>
          <a:xfrm>
            <a:off x="306000" y="2232000"/>
            <a:ext cx="4194000" cy="20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Ongoing: when a prompt fails, diagnose which CRAFT element was missing before giving up on the tool</a:t>
            </a:r>
          </a:p>
        </p:txBody>
      </p:sp>
      <p:sp>
        <p:nvSpPr>
          <p:cNvPr id="7" name="Rectangle 6"/>
          <p:cNvSpPr/>
          <p:nvPr/>
        </p:nvSpPr>
        <p:spPr>
          <a:xfrm>
            <a:off x="0" y="2466000"/>
            <a:ext cx="4799880" cy="180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DE9FF"/>
        </a:solidFill>
        <a:effectLst/>
      </p:bgPr>
    </p:bg>
    <p:spTree>
      <p:nvGrpSpPr>
        <p:cNvPr id="1" name=""/>
        <p:cNvGrpSpPr/>
        <p:nvPr/>
      </p:nvGrpSpPr>
      <p:grpSpPr/>
      <p:sp>
        <p:nvSpPr>
          <p:cNvPr id="2" name="TextBox 1"/>
          <p:cNvSpPr txBox="1"/>
          <p:nvPr/>
        </p:nvSpPr>
        <p:spPr>
          <a:xfrm>
            <a:off x="306000" y="198000"/>
            <a:ext cx="4068000" cy="306000"/>
          </a:xfrm>
          <a:prstGeom prst="rect">
            <a:avLst/>
          </a:prstGeom>
          <a:noFill/>
        </p:spPr>
        <p:txBody>
          <a:bodyPr wrap="square">
            <a:normAutofit/>
          </a:bodyPr>
          <a:lstStyle/>
          <a:p>
            <a:pPr>
              <a:defRPr sz="3300" b="1">
                <a:solidFill>
                  <a:srgbClr val="0D006A"/>
                </a:solidFill>
                <a:latin typeface="Calibri"/>
              </a:defRPr>
            </a:pPr>
            <a:r>
              <a:t>Your Take-Home Toolkit</a:t>
            </a:r>
          </a:p>
        </p:txBody>
      </p:sp>
      <p:sp>
        <p:nvSpPr>
          <p:cNvPr id="3" name="Rectangle 2"/>
          <p:cNvSpPr/>
          <p:nvPr/>
        </p:nvSpPr>
        <p:spPr>
          <a:xfrm>
            <a:off x="306000" y="514800"/>
            <a:ext cx="450000" cy="2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8000" y="666000"/>
            <a:ext cx="3924000" cy="1530000"/>
          </a:xfrm>
          <a:prstGeom prst="rect">
            <a:avLst/>
          </a:prstGeom>
          <a:noFill/>
        </p:spPr>
        <p:txBody>
          <a:bodyPr wrap="square">
            <a:normAutofit/>
          </a:bodyPr>
          <a:lstStyle/>
          <a:p>
            <a:pPr>
              <a:spcAft>
                <a:spcPts val="700"/>
              </a:spcAft>
              <a:defRPr sz="1700">
                <a:solidFill>
                  <a:srgbClr val="0D006A"/>
                </a:solidFill>
                <a:latin typeface="Calibri"/>
              </a:defRPr>
            </a:pPr>
            <a:r>
              <a:t>CRAFT prompt template (printed and digital) — use it for every new content type</a:t>
            </a:r>
          </a:p>
          <a:p>
            <a:pPr>
              <a:spcAft>
                <a:spcPts val="700"/>
              </a:spcAft>
              <a:defRPr sz="1700">
                <a:solidFill>
                  <a:srgbClr val="0D006A"/>
                </a:solidFill>
                <a:latin typeface="Calibri"/>
              </a:defRPr>
            </a:pPr>
            <a:r>
              <a:t>Rescue prompt cheat sheet — the five follow-up prompts for fixing common output problems</a:t>
            </a:r>
          </a:p>
          <a:p>
            <a:pPr>
              <a:spcAft>
                <a:spcPts val="700"/>
              </a:spcAft>
              <a:defRPr sz="1700">
                <a:solidFill>
                  <a:srgbClr val="0D006A"/>
                </a:solidFill>
                <a:latin typeface="Calibri"/>
              </a:defRPr>
            </a:pPr>
            <a:r>
              <a:t>Recommended tools to start with: ChatGPT (chatgpt.com), Microsoft Copilot (if your organization uses Microsoft 365), Google Gemini</a:t>
            </a:r>
          </a:p>
          <a:p>
            <a:pPr>
              <a:spcAft>
                <a:spcPts val="700"/>
              </a:spcAft>
              <a:defRPr sz="1700">
                <a:solidFill>
                  <a:srgbClr val="0D006A"/>
                </a:solidFill>
                <a:latin typeface="Calibri"/>
              </a:defRPr>
            </a:pPr>
            <a:r>
              <a:t>One recommended next step: spend 15 minutes this week prompting something you would normally spend 2 hours writing — compare the results</a:t>
            </a:r>
          </a:p>
          <a:p>
            <a:pPr>
              <a:spcAft>
                <a:spcPts val="700"/>
              </a:spcAft>
              <a:defRPr sz="1700">
                <a:solidFill>
                  <a:srgbClr val="0D006A"/>
                </a:solidFill>
                <a:latin typeface="Calibri"/>
              </a:defRPr>
            </a:pPr>
            <a:r>
              <a:t>Questions after today? Reach out to [trainer contact] or post in [team Slack/Teams channel]</a:t>
            </a:r>
          </a:p>
        </p:txBody>
      </p:sp>
      <p:sp>
        <p:nvSpPr>
          <p:cNvPr id="5" name="Rectangle 4"/>
          <p:cNvSpPr/>
          <p:nvPr/>
        </p:nvSpPr>
        <p:spPr>
          <a:xfrm>
            <a:off x="306000" y="2232000"/>
            <a:ext cx="4194000" cy="2088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8000" y="2264400"/>
            <a:ext cx="4031999" cy="115200"/>
          </a:xfrm>
          <a:prstGeom prst="rect">
            <a:avLst/>
          </a:prstGeom>
          <a:noFill/>
        </p:spPr>
        <p:txBody>
          <a:bodyPr wrap="square">
            <a:normAutofit/>
          </a:bodyPr>
          <a:lstStyle/>
          <a:p>
            <a:pPr>
              <a:defRPr sz="1100" b="1">
                <a:solidFill>
                  <a:srgbClr val="F2F2F2"/>
                </a:solidFill>
                <a:latin typeface="Calibri"/>
              </a:defRPr>
            </a:pPr>
            <a:r>
              <a:t>KEY TAKEAWAY — Questions after today? Reach out to [trainer contact] or post in [team Slack/Teams channel]</a:t>
            </a:r>
          </a:p>
        </p:txBody>
      </p:sp>
      <p:sp>
        <p:nvSpPr>
          <p:cNvPr id="7" name="Rectangle 6"/>
          <p:cNvSpPr/>
          <p:nvPr/>
        </p:nvSpPr>
        <p:spPr>
          <a:xfrm>
            <a:off x="0" y="2466000"/>
            <a:ext cx="4799880" cy="18000"/>
          </a:xfrm>
          <a:prstGeom prst="rect">
            <a:avLst/>
          </a:prstGeom>
          <a:solidFill>
            <a:srgbClr val="3F0576"/>
          </a:solidFill>
          <a:ln>
            <a:solidFill>
              <a:srgbClr val="3F0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verx_Logo.png"/>
          <p:cNvPicPr>
            <a:picLocks noChangeAspect="1"/>
          </p:cNvPicPr>
          <p:nvPr/>
        </p:nvPicPr>
        <p:blipFill>
          <a:blip r:embed="rId2"/>
          <a:stretch>
            <a:fillRect/>
          </a:stretch>
        </p:blipFill>
        <p:spPr>
          <a:xfrm>
            <a:off x="198000" y="2527200"/>
            <a:ext cx="100543" cy="100800"/>
          </a:xfrm>
          <a:prstGeom prst="rect">
            <a:avLst/>
          </a:prstGeom>
        </p:spPr>
      </p:pic>
      <p:sp>
        <p:nvSpPr>
          <p:cNvPr id="9" name="TextBox 8"/>
          <p:cNvSpPr txBox="1"/>
          <p:nvPr/>
        </p:nvSpPr>
        <p:spPr>
          <a:xfrm>
            <a:off x="3791880" y="2512800"/>
            <a:ext cx="810000" cy="108000"/>
          </a:xfrm>
          <a:prstGeom prst="rect">
            <a:avLst/>
          </a:prstGeom>
          <a:noFill/>
        </p:spPr>
        <p:txBody>
          <a:bodyPr wrap="square">
            <a:normAutofit/>
          </a:bodyPr>
          <a:lstStyle/>
          <a:p>
            <a:pPr algn="r">
              <a:defRPr sz="800" b="0">
                <a:solidFill>
                  <a:srgbClr val="0D006A"/>
                </a:solidFill>
                <a:latin typeface="Calibri"/>
              </a:defRPr>
            </a:pPr>
            <a:r>
              <a:t>maverx.nl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